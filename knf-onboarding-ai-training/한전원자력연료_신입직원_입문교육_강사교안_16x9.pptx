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"/>
            <a:ext cx="12191695" cy="7315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731520"/>
            <a:ext cx="4754880" cy="475488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274320"/>
            <a:ext cx="2560320" cy="2560320"/>
          </a:xfrm>
          <a:prstGeom prst="ellipse">
            <a:avLst/>
          </a:prstGeom>
          <a:solidFill>
            <a:srgbClr val="1E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0" y="1188720"/>
            <a:ext cx="3840480" cy="3840480"/>
          </a:xfrm>
          <a:prstGeom prst="ellipse">
            <a:avLst/>
          </a:prstGeom>
          <a:noFill/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한전원자력연료  ·  신입직원 입문교육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74980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 스마트워크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&amp; AI 활용 보고서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1371600" cy="7315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제미나이 · 노트북LM · AI 스튜디오를 </a:t>
            </a:r>
            <a:r>
              <a:rPr sz="18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모바일</a:t>
            </a:r>
            <a:r>
              <a:rPr sz="18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로 익히고, AI로 보고서까지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3657600" cy="96012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583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 7. 8.(수) 13:00~18:00 (5H)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5212080"/>
            <a:ext cx="3657600" cy="96012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53583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5669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신입직원 107명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5212080"/>
            <a:ext cx="3657600" cy="96012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53583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5669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생성형 AI  ② AI 보고서 작성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OVERVIEW · 과정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오늘의 5시간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349240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8600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13:00~16:00 (3H)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생성형 AI 스마트워크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제미나이·노트북LM·AI 스튜디오를 모바일로 직접 실습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5349240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2240280"/>
            <a:ext cx="1005840" cy="100584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8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28600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16:00~18:00 (2H)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60604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 활용 보고서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429000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보고 기본·기획력 + 전지·매직으로 조별 보고서 작성·발표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11094415" cy="1417320"/>
          </a:xfrm>
          <a:prstGeom prst="roundRect">
            <a:avLst>
              <a:gd name="adj" fmla="val 3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📱  진행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모든 실습은 스마트폰으로 — PC 없이 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2064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교재의 프롬프트는 그대로 따라 해도 좋아요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512064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오늘 만든 결과물 = 내일 쓰는 나의 도구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AI로 일하는 법 + 제대로 보고하는 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64008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097280"/>
            <a:ext cx="4206240" cy="420624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640080"/>
            <a:ext cx="2743200" cy="2743200"/>
          </a:xfrm>
          <a:prstGeom prst="ellipse">
            <a:avLst/>
          </a:prstGeom>
          <a:noFill/>
          <a:ln w="19050">
            <a:solidFill>
              <a:srgbClr val="12A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13:00~16:00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생성형 AI 스마트워크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SMART WORK WITH GENERATIVE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1097280" cy="64008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스마트폰만 있으면 누구나, 지금 바로. 세 가지 AI 도구로 업무 속도를 바꿉니다.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330952"/>
            <a:ext cx="502920" cy="5029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330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294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제미나이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67842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만능 AI 어시스턴트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507492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44568" y="5330952"/>
            <a:ext cx="502920" cy="5029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5330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294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노트북LM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67842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내 문서 전용 AI 분석가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07492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39328" y="5330952"/>
            <a:ext cx="502920" cy="5029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5330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294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스튜디오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67842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코딩 없는 AI 개발도구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도구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오늘 배우는 세 가지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548640" y="1828800"/>
            <a:ext cx="3520440" cy="10972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F3F1"/>
                </a:solidFill>
                <a:latin typeface="맑은 고딕"/>
                <a:ea typeface="맑은 고딕"/>
                <a:cs typeface="맑은 고딕"/>
              </a:rP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만능 AI 어시스턴트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이미지·영상·문서·웹앱을 말 한마디로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무료 · 구글 계정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4343400" y="1828800"/>
            <a:ext cx="3520440" cy="10972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993392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42032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F3F1"/>
                </a:solidFill>
                <a:latin typeface="맑은 고딕"/>
                <a:ea typeface="맑은 고딕"/>
                <a:cs typeface="맑은 고딕"/>
              </a:rPr>
              <a:t>NotebookLM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1089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노트북LM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03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내 문서 전용 분석가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올린 자료만 보고 출처와 함께 답변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07492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무료 · 구글 계정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3520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8138160" y="1828800"/>
            <a:ext cx="3520440" cy="10972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993392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542032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F3F1"/>
                </a:solidFill>
                <a:latin typeface="맑은 고딕"/>
                <a:ea typeface="맑은 고딕"/>
                <a:cs typeface="맑은 고딕"/>
              </a:rPr>
              <a:t>AI Studio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1089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 스튜디오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03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AI 개발 플랫폼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코딩 없이 챗봇·앱 제작·자동화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07492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무료 · 구글 계정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 도구를 손에 익히면, 일하는 속도가 달라진다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제미나이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 — 무엇이고, 어떻게 시작하나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1554480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구글이 만든 AI 어시스턴트. 말이나 글로 요청하면 이미지·문서·번역·요약까지 만들어 줘요. 구글 계정만 있으면 무료!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핵심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이미지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406908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420624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4892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영상·음악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06908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20624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92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캔버스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06908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20624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892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요약·대화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83080"/>
            <a:ext cx="5120640" cy="3703320"/>
          </a:xfrm>
          <a:prstGeom prst="roundRect">
            <a:avLst>
              <a:gd name="adj" fmla="val 4000"/>
            </a:avLst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📱 모바일로 시작하기</a:t>
            </a:r>
          </a:p>
        </p:txBody>
      </p:sp>
      <p:sp>
        <p:nvSpPr>
          <p:cNvPr id="27" name="Oval 26"/>
          <p:cNvSpPr/>
          <p:nvPr/>
        </p:nvSpPr>
        <p:spPr>
          <a:xfrm>
            <a:off x="6903720" y="2514600"/>
            <a:ext cx="548640" cy="54864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514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49631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gemini.google.com 접속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86207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크롬·사파리 주소창에 입력 / 앱 설치 불필요</a:t>
            </a:r>
          </a:p>
        </p:txBody>
      </p:sp>
      <p:sp>
        <p:nvSpPr>
          <p:cNvPr id="31" name="Oval 30"/>
          <p:cNvSpPr/>
          <p:nvPr/>
        </p:nvSpPr>
        <p:spPr>
          <a:xfrm>
            <a:off x="6903720" y="3447288"/>
            <a:ext cx="548640" cy="54864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447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4290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구글 계정으로 로그인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79476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개인 구글 계정 권장</a:t>
            </a:r>
          </a:p>
        </p:txBody>
      </p:sp>
      <p:sp>
        <p:nvSpPr>
          <p:cNvPr id="35" name="Oval 34"/>
          <p:cNvSpPr/>
          <p:nvPr/>
        </p:nvSpPr>
        <p:spPr>
          <a:xfrm>
            <a:off x="6903720" y="4379976"/>
            <a:ext cx="548640" cy="54864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3799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3616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한국어로 요청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72744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“○○ 보고서 초안 써줘”처럼 말하듯이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말로 요청하면, AI가 일을 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제미나이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제미나이로 이런 일을 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이미지·시각화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교육·홍보 포스터, 개념 다이어그램을 몇 초 만에 시안으로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3484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</a:t>
            </a: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“품질 안전 캠페인 포스터를 신뢰감 있게 그려줘”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1031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346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영상·음악 기획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8328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홍보·교육 영상 스크립트, 행사 응원가·BGM 아이디어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43484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43484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</a:t>
            </a: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“회사 1분 소개 쇼츠 스크립트를 자막과 함께 써줘”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10312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346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캔버스(문서)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8328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기획서·보고서 초안 작성, 톤 변경, 다국어 번역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43484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434840"/>
            <a:ext cx="2423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💬 </a:t>
            </a: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“○○ 교육 기획서 초안 써줘” → 단락별 수정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찾지 말고, 만들어서 쓰세요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제미나이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코딩 없이 웹앱·게임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“○○ 앱 만들어줘” → 실제 작동하는 웹앱을 만들어 링크로 공유. </a:t>
            </a: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간단한 것부터 업무용까지.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651760"/>
            <a:ext cx="640080" cy="640080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243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점심 내기 게임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0837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룰렛·사다리로 결정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33172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2651760"/>
            <a:ext cx="640080" cy="640080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6517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6243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커피 취합 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00837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주문 모아 자동 집계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3172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2651760"/>
            <a:ext cx="640080" cy="640080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🗳️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243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즉석 투표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0837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회식 메뉴·날짜 결정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947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08736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준비물 체크앱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7141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출장·교육 체크리스트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7947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7720" y="4114800"/>
            <a:ext cx="640080" cy="640080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408736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업무 계산기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47141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출장비·근무시간 환산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7947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640080" cy="640080"/>
          </a:xfrm>
          <a:prstGeom prst="ellipse">
            <a:avLst/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08736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미니 설문폼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47141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만족도·의견 집계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아이디어만 있으면, 앱이 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제미나이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좋은 결과를 만드는 프롬프트 6원칙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R · O · C · F · E · C  — 막연히 묻지 말고, 구체적으로 시키세요.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2316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“너는 회사 교육 담당자야”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24688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2316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“신입 안전교육 기획안을 쓰고 싶어”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2044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맥락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52044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“대상 신입 107명, 강당, 2시간”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8328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3566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566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52044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형식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52044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“A4 1장, 순서·준비물 포함”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8056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6634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1772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61772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“이런 형식을 참고해서”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48056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46520" y="46634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C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6634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61772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61772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“전문용어는 쉽게, 한국어로만”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질문이 좋아야, 답이 좋다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모바일 실습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제미나이로 직접 해보기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📱  gemini.google.com 접속 → 아래 미션을 순서대로 해보고 결과를 옆 사람과 공유하세요.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063240"/>
            <a:ext cx="731520" cy="7315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나를 소개하는 이미지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17720"/>
            <a:ext cx="2788920" cy="5943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2514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“신입사원인 나를 밝고 전문적인 캐릭터로 그려줘”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88920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09160" y="3063240"/>
            <a:ext cx="731520" cy="7315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063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977639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업무 메일 톤 바꾸기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4617720"/>
            <a:ext cx="2788920" cy="5943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4617720"/>
            <a:ext cx="2514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문장 붙여넣고 “정중한 비즈니스 말투로 다시 써줘”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788920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0" y="3063240"/>
            <a:ext cx="731520" cy="7315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977639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6원칙으로 기획안 요청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617720"/>
            <a:ext cx="2788920" cy="5943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4617720"/>
            <a:ext cx="2514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R·O·C·F·E·C를 넣어 “워크숍 기획안” 요청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써본 사람만 안다 — 일단 해보기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PART 1 · 노트북LM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노트북LM — 내 문서 전용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1828800"/>
          </a:xfrm>
          <a:prstGeom prst="roundRect">
            <a:avLst>
              <a:gd name="adj" fmla="val 50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내가 올린 문서(PDF·웹·유튜브)만 참고해 답하는 AI. 지어내기(할루시네이션)가 거의 없고, 답변마다 출처 페이지를 알려줘요.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691640" cy="150876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출처 기반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근거 페이지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886200"/>
            <a:ext cx="1691640" cy="150876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406908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6177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내 자료만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8348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올린 자료 안에서만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886200"/>
            <a:ext cx="1691640" cy="150876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6908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6177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요약·검색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8348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수백 쪽을 몇 초로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783080"/>
            <a:ext cx="5120640" cy="3611880"/>
          </a:xfrm>
          <a:prstGeom prst="roundRect">
            <a:avLst>
              <a:gd name="adj" fmla="val 4000"/>
            </a:avLst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📱 시작하기</a:t>
            </a:r>
          </a:p>
        </p:txBody>
      </p:sp>
      <p:sp>
        <p:nvSpPr>
          <p:cNvPr id="26" name="Oval 25"/>
          <p:cNvSpPr/>
          <p:nvPr/>
        </p:nvSpPr>
        <p:spPr>
          <a:xfrm>
            <a:off x="6903720" y="2468880"/>
            <a:ext cx="548640" cy="54864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2468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4505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notebooklm.google.com 접속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9806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구글 계정으로 로그인 · 무료</a:t>
            </a:r>
          </a:p>
        </p:txBody>
      </p:sp>
      <p:sp>
        <p:nvSpPr>
          <p:cNvPr id="30" name="Oval 29"/>
          <p:cNvSpPr/>
          <p:nvPr/>
        </p:nvSpPr>
        <p:spPr>
          <a:xfrm>
            <a:off x="6903720" y="3383280"/>
            <a:ext cx="548640" cy="54864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3832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3649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‘+ 새 노트북’ → 자료 추가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71246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PDF·문서·웹 URL·텍스트</a:t>
            </a:r>
          </a:p>
        </p:txBody>
      </p:sp>
      <p:sp>
        <p:nvSpPr>
          <p:cNvPr id="34" name="Oval 33"/>
          <p:cNvSpPr/>
          <p:nvPr/>
        </p:nvSpPr>
        <p:spPr>
          <a:xfrm>
            <a:off x="6903720" y="4297680"/>
            <a:ext cx="548640" cy="54864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4297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2793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 시작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62686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출처 번호가 붙은 답변 확인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문서가 곧 나만의 AI 비서가 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PART 1 · 노트북LM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규정·매뉴얼·보고서를 올려두고, 묻고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75687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자료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5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긴 규정·보고서 핵심 즉시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075687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문서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5175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구·신버전 차이를 표로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74519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031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75687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출처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5175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“관련 조항·페이지 찾아줘”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19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033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675887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슬라이드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5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발표용 슬라이드 초안 자동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74719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7033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675887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오디오 요약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25195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팟캐스트형 음성 대화로 변환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474719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7033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675887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퀴즈·학습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251959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핵심용어·OX퀴즈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지어내지 않는다, 출처를 보여준다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PART 1 · 노트북LM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바로 쓰는 실전 프롬프트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88720" cy="960120"/>
          </a:xfrm>
          <a:prstGeom prst="roundRect">
            <a:avLst>
              <a:gd name="adj" fmla="val 5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188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828800"/>
            <a:ext cx="3840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“핵심 내용을 5가지로 정리하고 근거 페이지도 알려줘”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1188720" cy="960120"/>
          </a:xfrm>
          <a:prstGeom prst="roundRect">
            <a:avLst>
              <a:gd name="adj" fmla="val 5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1188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828800"/>
            <a:ext cx="3840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“두 보고서의 ‘예산·일정’을 비교해 표로 만들어줘”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1188720" cy="960120"/>
          </a:xfrm>
          <a:prstGeom prst="roundRect">
            <a:avLst>
              <a:gd name="adj" fmla="val 5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71800"/>
            <a:ext cx="1188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71800"/>
            <a:ext cx="3840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규정집에서 ‘초과근무 수당 기준’을 원문으로 발췌해줘”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971800"/>
            <a:ext cx="1188720" cy="960120"/>
          </a:xfrm>
          <a:prstGeom prst="roundRect">
            <a:avLst>
              <a:gd name="adj" fmla="val 5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971800"/>
            <a:ext cx="1188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퀴즈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971800"/>
            <a:ext cx="3840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교육자료로 신입용 OX 퀴즈 10문제와 해설을 만들어줘”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1188720" cy="960120"/>
          </a:xfrm>
          <a:prstGeom prst="roundRect">
            <a:avLst>
              <a:gd name="adj" fmla="val 5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1188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14800"/>
            <a:ext cx="3840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보고서를 5분 발표자료로 요약하고 예상 질문도 준비해줘”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14800"/>
            <a:ext cx="54406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4114800"/>
            <a:ext cx="1188720" cy="960120"/>
          </a:xfrm>
          <a:prstGeom prst="roundRect">
            <a:avLst>
              <a:gd name="adj" fmla="val 5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114800"/>
            <a:ext cx="1188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오디오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114800"/>
            <a:ext cx="3840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“이 안내자료를 5분 음성 가이드 스크립트로 바꿔줘”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좋은 질문 한 줄이 1시간을 아낀다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PART 1 · 모바일 실습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노트북LM으로 직접 해보기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📱  새 노트북 생성 → 자료 1개 업로드 → 아래 미션 수행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063240"/>
            <a:ext cx="731520" cy="73152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핵심 5줄 요약 받기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17720"/>
            <a:ext cx="2788920" cy="5943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2514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“핵심을 5가지로, 출처 페이지와 함께”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88920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09160" y="3063240"/>
            <a:ext cx="731520" cy="73152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063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977639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출처 기반 질문하기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4617720"/>
            <a:ext cx="2788920" cy="5943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4617720"/>
            <a:ext cx="2514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궁금한 점을 묻고 ‘출처 번호’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788920"/>
            <a:ext cx="3520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0" y="3063240"/>
            <a:ext cx="731520" cy="73152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977639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퀴즈/슬라이드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617720"/>
            <a:ext cx="2788920" cy="5943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4617720"/>
            <a:ext cx="2514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“OX 퀴즈 5문제” 또는 “슬라이드 초안”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검색하지 말고, 내 자료에게 물어보라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딥리서치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깊이 있는 자료조사 — 밖은 웹, 안은 내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4068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548640" y="1783080"/>
            <a:ext cx="5440680" cy="566928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4800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🌐  제미나이 딥리서치 (외부·웹)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주제를 주면 AI가 수십~수백 개 웹사이트를 스스로 조사·교차검증해 출처가 달린 종합 보고서를 자동 작성.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이렇게 써요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721608"/>
            <a:ext cx="274320" cy="2743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216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703320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‘Deep Research’ 선택 후 주제 입력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087368"/>
            <a:ext cx="274320" cy="2743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069080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AI가 짠 ‘조사 계획’ 확인·수정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453128"/>
            <a:ext cx="274320" cy="27432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531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434840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몇 분 뒤, 출처 포함 보고서 완성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38928"/>
            <a:ext cx="4800600" cy="292608"/>
          </a:xfrm>
          <a:prstGeom prst="roundRect">
            <a:avLst>
              <a:gd name="adj" fmla="val 20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4526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활용: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원자력·에너지 기술/정책·해외 동향 조사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783080"/>
            <a:ext cx="544068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6400800" y="1783080"/>
            <a:ext cx="5440680" cy="566928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1783080"/>
            <a:ext cx="4800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📁  노트북LM (내부·내 자료)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487168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내가 올린 자료(규정·보고서·논문) 안에서만 교차분석·요약. 답변마다 출처 페이지가 표시돼 신뢰도가 높아요.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40156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이렇게 써요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3721608"/>
            <a:ext cx="274320" cy="27432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2160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3703320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자료(소스) 업로드</a:t>
            </a:r>
          </a:p>
        </p:txBody>
      </p:sp>
      <p:sp>
        <p:nvSpPr>
          <p:cNvPr id="32" name="Oval 31"/>
          <p:cNvSpPr/>
          <p:nvPr/>
        </p:nvSpPr>
        <p:spPr>
          <a:xfrm>
            <a:off x="6720840" y="4087368"/>
            <a:ext cx="274320" cy="27432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4069080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자연어로 깊이 있게 질문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4453128"/>
            <a:ext cx="274320" cy="27432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4531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4434840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‘노트북 가이드’로 요약·마인드맵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5138928"/>
            <a:ext cx="4800600" cy="292608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120640"/>
            <a:ext cx="4526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활용: </a:t>
            </a:r>
            <a:r>
              <a:rPr sz="11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사내 규정·매뉴얼·과거 보고서 정리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넓게는 제미나이, 깊게는 노트북LM · 결과는 출처 확인 필수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1 · AI 스튜디오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코딩 없이 챗봇·앱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15544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구글 최신 AI로 맞춤형 챗봇·웹앱을 만드는 개발 플랫폼. ‘말로 설명’하면 완성돼요. (aistudio.google.com · 무료)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1188720" cy="173736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대용량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수천 쪽 한 번에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20" y="3657600"/>
            <a:ext cx="1188720" cy="173736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388620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멀티모달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66344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이미지·영상·음성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657600"/>
            <a:ext cx="1188720" cy="173736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88620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챗봇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66344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회사 전용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657600"/>
            <a:ext cx="1188720" cy="1737360"/>
          </a:xfrm>
          <a:prstGeom prst="roundRect">
            <a:avLst>
              <a:gd name="adj" fmla="val 7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88620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업무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66344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Drive·Sheets 자동화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78308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783080"/>
            <a:ext cx="822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9659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맞춤형 챗봇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35000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‘규정 안내봇’·‘온보딩 도우미’를 코딩 없이 제작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01752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017520"/>
            <a:ext cx="822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200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데이터 자동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58444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시트의 설문·현황을 AI가 읽고 요약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25196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251960"/>
            <a:ext cx="822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🗂️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434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대규모 자료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81888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수백 쪽 규정을 올려 즉시 검색·정리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심화 도구 — ‘이런 게 가능하다’ 감만 잡아도 충분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PART 1 ·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Part 1 정리 &amp;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749808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제미나이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이미지·영상·캔버스·웹앱 / 프롬프트 6원칙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486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146304" cy="749808"/>
          </a:xfrm>
          <a:prstGeom prst="roundRect">
            <a:avLst>
              <a:gd name="adj" fmla="val 50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7063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노트북LM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51760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내 문서만 — 출처 자동 / 요약·비교·퀴즈·슬라이드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5486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146304" cy="749808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 스튜디오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520440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대용량 분석·챗봇·자동화 (코딩 불필요)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783080"/>
            <a:ext cx="5120640" cy="3291840"/>
          </a:xfrm>
          <a:prstGeom prst="roundRect">
            <a:avLst>
              <a:gd name="adj" fmla="val 4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✓ 오늘의 체크리스트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4688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제미나이 로그인 &amp; 이미지 1장 만들기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97180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프롬프트 6원칙으로 요청해 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47472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노트북LM에 자료 올리고 출처 답변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97764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요약·퀴즈 만들어 보기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48056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☐ 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보안 수칙(민감정보 미입력) 이해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도구는 익혔다 — 이제 ‘보고’로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91695" cy="64008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097280"/>
            <a:ext cx="4206240" cy="420624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640080"/>
            <a:ext cx="2743200" cy="2743200"/>
          </a:xfrm>
          <a:prstGeom prst="ellipse">
            <a:avLst/>
          </a:prstGeom>
          <a:noFill/>
          <a:ln w="1905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16:00~18:00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활용 보고서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REPORT WRITING WITH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1097280" cy="6400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CFDEF0"/>
                </a:solidFill>
                <a:latin typeface="맑은 고딕"/>
                <a:ea typeface="맑은 고딕"/>
                <a:cs typeface="맑은 고딕"/>
              </a:rPr>
              <a:t>기본기(기획력·보고 원칙)를 다지고, AI와 손(전지·매직)으로 ‘한 장 보고서’를 완성합니다.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330952"/>
            <a:ext cx="502920" cy="5029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330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294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보고의 기본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67842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왜·무엇을·어떻게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507492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44568" y="5330952"/>
            <a:ext cx="502920" cy="5029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5330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294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공문서·원페이지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67842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양식과 구조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07492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39328" y="5330952"/>
            <a:ext cx="502920" cy="5029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5330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2943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AI+전지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67842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조별 작성·발표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보고의 기본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왜, 보고인가?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보고란 무엇인가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보고는 ‘다 끝낸 뒤 완벽하게 하는 것’이 아니라, 내 일의 상황을 상사와 ‘동기화’해 제때 판단을 돕는 행위입니다.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24B3E"/>
                </a:solidFill>
                <a:latin typeface="맑은 고딕"/>
                <a:ea typeface="맑은 고딕"/>
                <a:cs typeface="맑은 고딕"/>
              </a:rPr>
              <a:t>❌  흔한 오해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“다 끝내고 완벽하게 보고해야지” → 그 사이 상사는 깜깜이, 문제는 손쓸 수 없을 때 드러난다.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089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29184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⭕  진짜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703320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상황을 ‘공유’하는 것 → 불안을 덜고 의사결정을 돕는다. 신입이 가장 빨리 신뢰를 얻는 법.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94415" cy="128016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365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💡  보고의 출발점은 ‘기획력’ — 쓰기 전에 3가지를 먼저 정하라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93792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Why 목적  </a:t>
            </a: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무엇을 결정하게?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193792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Who 대상  </a:t>
            </a: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누가 읽고, 뭘 궁금해하나?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193792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What 핵심  </a:t>
            </a: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한 문장으로 줄이면?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작은 보고가 쌓여 ‘신뢰’가 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보고의 기본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좋은 보고의 3원칙 &amp; 두괄식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10312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적시성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542032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늦은 100점보다 빠른 70점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2011680"/>
            <a:ext cx="822960" cy="822960"/>
          </a:xfrm>
          <a:prstGeom prst="ellipse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10312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정확성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542032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사실과 의견을 구분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78308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011680"/>
            <a:ext cx="822960" cy="82296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116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10312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간결성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542032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결론부터, 짧게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두괄식 = 결론부터, 그리고 </a:t>
            </a: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PREP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023360"/>
            <a:ext cx="1645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결론부터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023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11480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023360"/>
            <a:ext cx="1645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근거·이유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023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11480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023360"/>
            <a:ext cx="1645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사례·수치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4023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411480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023360"/>
            <a:ext cx="1645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결론 재확인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120640"/>
            <a:ext cx="11094415" cy="749808"/>
          </a:xfrm>
          <a:prstGeom prst="roundRect">
            <a:avLst>
              <a:gd name="adj" fmla="val 6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20640"/>
            <a:ext cx="103628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⭐ 두괄식 예: 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“일정이 2일 지연될 것 같습니다(결론). 담당자 교체 때문이고, 대안은 △△입니다.”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첫 문장이 보고의 승부처다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기본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공문서 작성법 (행정업무편람)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128016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공문서란?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회사의 의사를 공식적으로 기록·전달하는 문서. ‘정해진 형식’과 ‘정확한 표현’이 생명입니다.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337560"/>
            <a:ext cx="274320" cy="2743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정확성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4612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사실 근거 · 오탈자·숫자 오류 없이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886200"/>
            <a:ext cx="274320" cy="2743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9476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간결성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79476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한 문장 한 뜻 · 짧게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434840"/>
            <a:ext cx="274320" cy="2743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348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4340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명확성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34340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애매한 표현 금지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983480"/>
            <a:ext cx="274320" cy="2743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89204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성실·예의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89204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정중한 표현 · 상대 입장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4068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5532120"/>
            <a:ext cx="274320" cy="27432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4406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형식 준수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44068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두문-본문-결문 · 항목 기호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783080"/>
            <a:ext cx="5120640" cy="3703320"/>
          </a:xfrm>
          <a:prstGeom prst="roundRect">
            <a:avLst>
              <a:gd name="adj" fmla="val 4000"/>
            </a:avLst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항목 구분 순서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2697480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 →  가.  →  1)  →  가)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 (1)  →  (가)  →  ①  →  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48056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둘째 항목부터는 상위 항목 위치에서 1자(2타)씩 들여쓰기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형식이 신뢰를 만든다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기본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공문서 양식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4206240" cy="4160520"/>
          </a:xfrm>
          <a:prstGeom prst="rect">
            <a:avLst/>
          </a:prstGeom>
          <a:solidFill>
            <a:srgbClr val="FFFFFF"/>
          </a:solidFill>
          <a:ln w="16510">
            <a:solidFill>
              <a:srgbClr val="B4BCC8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한전원자력연료(주)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1929384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350008"/>
            <a:ext cx="3657600" cy="25400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404872"/>
            <a:ext cx="3657600" cy="12700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560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수신  ○○○○장  (○○과장)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542032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420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26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제목  </a:t>
            </a:r>
            <a:r>
              <a:rPr sz="11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신입직원 입문교육 결과 보고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2907792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9077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3192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1. 신입직원 입문교육 결과를 다음과 같이 보고합니다.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611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가. 교육 개요 / 나. 주요 결과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3337560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37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023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붙임  1. 결과보고서 1부.   </a:t>
            </a:r>
            <a:r>
              <a:rPr sz="9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끝.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4005072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한전원자력연료 사장</a:t>
            </a:r>
            <a:r>
              <a:rPr sz="8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  (직인)</a:t>
            </a:r>
          </a:p>
        </p:txBody>
      </p:sp>
      <p:sp>
        <p:nvSpPr>
          <p:cNvPr id="28" name="Oval 27"/>
          <p:cNvSpPr/>
          <p:nvPr/>
        </p:nvSpPr>
        <p:spPr>
          <a:xfrm>
            <a:off x="411480" y="4480560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480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892040"/>
            <a:ext cx="3657600" cy="3657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12700">
            <a:solidFill>
              <a:srgbClr val="B4B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89204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기안 ○○○   검토 ○○○   결재 ○○○</a:t>
            </a:r>
          </a:p>
        </p:txBody>
      </p:sp>
      <p:sp>
        <p:nvSpPr>
          <p:cNvPr id="32" name="Oval 31"/>
          <p:cNvSpPr/>
          <p:nvPr/>
        </p:nvSpPr>
        <p:spPr>
          <a:xfrm>
            <a:off x="411480" y="4937760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9377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5394960"/>
            <a:ext cx="3657600" cy="15240"/>
          </a:xfrm>
          <a:prstGeom prst="rect">
            <a:avLst/>
          </a:prstGeom>
          <a:solidFill>
            <a:srgbClr val="B4B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86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8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대전 유성구 ○○로 000  ·  ☎ 042-000-0000  ·  www.knfc.co.kr</a:t>
            </a:r>
          </a:p>
        </p:txBody>
      </p:sp>
      <p:sp>
        <p:nvSpPr>
          <p:cNvPr id="36" name="Oval 35"/>
          <p:cNvSpPr/>
          <p:nvPr/>
        </p:nvSpPr>
        <p:spPr>
          <a:xfrm>
            <a:off x="411480" y="5486400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486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①~⑧ 구성 요소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0" y="2286000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2286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286000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발신 기관명 (로고)</a:t>
            </a:r>
          </a:p>
        </p:txBody>
      </p:sp>
      <p:sp>
        <p:nvSpPr>
          <p:cNvPr id="42" name="Oval 41"/>
          <p:cNvSpPr/>
          <p:nvPr/>
        </p:nvSpPr>
        <p:spPr>
          <a:xfrm>
            <a:off x="5669280" y="2724912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27249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2724912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수신자 (받는 사람)</a:t>
            </a:r>
          </a:p>
        </p:txBody>
      </p:sp>
      <p:sp>
        <p:nvSpPr>
          <p:cNvPr id="45" name="Oval 44"/>
          <p:cNvSpPr/>
          <p:nvPr/>
        </p:nvSpPr>
        <p:spPr>
          <a:xfrm>
            <a:off x="5669280" y="3163824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31638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163824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제목 (한 줄 요약)</a:t>
            </a:r>
          </a:p>
        </p:txBody>
      </p:sp>
      <p:sp>
        <p:nvSpPr>
          <p:cNvPr id="48" name="Oval 47"/>
          <p:cNvSpPr/>
          <p:nvPr/>
        </p:nvSpPr>
        <p:spPr>
          <a:xfrm>
            <a:off x="5669280" y="3602736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36027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602736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본문 (1. 가. 항목 기호)</a:t>
            </a:r>
          </a:p>
        </p:txBody>
      </p:sp>
      <p:sp>
        <p:nvSpPr>
          <p:cNvPr id="51" name="Oval 50"/>
          <p:cNvSpPr/>
          <p:nvPr/>
        </p:nvSpPr>
        <p:spPr>
          <a:xfrm>
            <a:off x="5669280" y="4041648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40416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4041648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붙임 + “끝.” 표시</a:t>
            </a:r>
          </a:p>
        </p:txBody>
      </p:sp>
      <p:sp>
        <p:nvSpPr>
          <p:cNvPr id="54" name="Oval 53"/>
          <p:cNvSpPr/>
          <p:nvPr/>
        </p:nvSpPr>
        <p:spPr>
          <a:xfrm>
            <a:off x="5669280" y="4480560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0" y="4480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4480560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발신 명의·직인</a:t>
            </a:r>
          </a:p>
        </p:txBody>
      </p:sp>
      <p:sp>
        <p:nvSpPr>
          <p:cNvPr id="57" name="Oval 56"/>
          <p:cNvSpPr/>
          <p:nvPr/>
        </p:nvSpPr>
        <p:spPr>
          <a:xfrm>
            <a:off x="5669280" y="4919472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0" y="49194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4919472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결재란 (기안·검토·결재)</a:t>
            </a:r>
          </a:p>
        </p:txBody>
      </p:sp>
      <p:sp>
        <p:nvSpPr>
          <p:cNvPr id="60" name="Oval 59"/>
          <p:cNvSpPr/>
          <p:nvPr/>
        </p:nvSpPr>
        <p:spPr>
          <a:xfrm>
            <a:off x="5669280" y="5358384"/>
            <a:ext cx="310896" cy="310896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0" y="5358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5358384"/>
            <a:ext cx="5029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기관 주소·연락처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정해진 자리에, 정해진 내용을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기본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공문서 3단 구조 — 두문·본문·결문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7680960" cy="868680"/>
          </a:xfrm>
          <a:prstGeom prst="roundRect">
            <a:avLst>
              <a:gd name="adj" fmla="val 4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6994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두문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905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누구에게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89280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기관명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892808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발신 기관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1742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B5EA8"/>
                </a:solidFill>
                <a:latin typeface="맑은 고딕"/>
                <a:ea typeface="맑은 고딕"/>
                <a:cs typeface="맑은 고딕"/>
              </a:rPr>
              <a:t>수신·경유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21742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받는 사람 / 거쳐가는 부서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43200"/>
            <a:ext cx="7680960" cy="1325880"/>
          </a:xfrm>
          <a:prstGeom prst="roundRect">
            <a:avLst>
              <a:gd name="adj" fmla="val 4000"/>
            </a:avLst>
          </a:prstGeom>
          <a:solidFill>
            <a:srgbClr val="E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743200"/>
            <a:ext cx="1463040" cy="1325880"/>
          </a:xfrm>
          <a:prstGeom prst="roundRect">
            <a:avLst>
              <a:gd name="adj" fmla="val 6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5866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92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85292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제목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852928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내용을 한 줄로 (명사형)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221736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221736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1.→가.→1) 항목 기호 순서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59054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2A18E"/>
                </a:solidFill>
                <a:latin typeface="맑은 고딕"/>
                <a:ea typeface="맑은 고딕"/>
                <a:cs typeface="맑은 고딕"/>
              </a:rPr>
              <a:t>붙임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590544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첨부 + 본문 끝 “끝.”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60520"/>
            <a:ext cx="7680960" cy="1188720"/>
          </a:xfrm>
          <a:prstGeom prst="roundRect">
            <a:avLst>
              <a:gd name="adj" fmla="val 4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160520"/>
            <a:ext cx="1463040" cy="1188720"/>
          </a:xfrm>
          <a:prstGeom prst="roundRect">
            <a:avLst>
              <a:gd name="adj" fmla="val 6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40740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280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누가·언제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27024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발신 명의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270248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○○기관장 + 직인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5488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결재·시행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475488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기안·검토·결재 / 시행일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86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✍️ 자주 틀리는 표기법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5216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5216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날짜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85216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2026. 7. 8.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55848" y="585216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4448" y="585216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585216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금113,560원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6" y="585216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585216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6056" y="585216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14:00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0264" y="585216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98864" y="585216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끝 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13264" y="585216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본문 끝 “끝.”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구조를 알면, 공문서가 쉬워진다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기본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원페이지 보고서 — 한 장으로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왜 한 장인가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104543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바쁜 의사결정자는 ‘한 장’을 원합니다. 길이가 아니라 ‘구성’이 실력 — 핵심만 구조화하면 한 장으로 충분.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1. 제목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한눈에 주제 파악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7180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97180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15468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2. 개요·목적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59359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왜 이 보고를 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7180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297180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15468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3. 현황·문제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59359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사실·데이터 중심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5196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25196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3484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4. 대안·방안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7375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1~3개 선택지 비교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25196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43400" y="425196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43484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5. 결론·건의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87375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무엇을 승인받을지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251960"/>
            <a:ext cx="35204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60" y="425196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434840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6. 향후 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7375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언제·누가·무엇을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길게 쓰지 말고, 구조로 압축하라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AI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AI로 보고서 빠르게 — 4단계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AI는 ‘초안·구조화·다듬기’를 돕는다. </a:t>
            </a:r>
            <a:r>
              <a:rPr sz="15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‘판단과 책임’은 나의 몫.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2377440"/>
            <a:ext cx="2697480" cy="82296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목적·대상·핵심을 한 줄로 정리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54880"/>
            <a:ext cx="2240280" cy="5029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AI에게 줄 ‘재료’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237744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3364992" y="2377440"/>
            <a:ext cx="2697480" cy="82296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4688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337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원페이지 구조로 초안 요청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93592" y="4754880"/>
            <a:ext cx="2240280" cy="5029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475488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개요·현황·방안·건의 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35661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237744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6181344" y="2377440"/>
            <a:ext cx="2697480" cy="82296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24688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3337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사실·수치·근거를 직접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4754880"/>
            <a:ext cx="2240280" cy="5029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475488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지어낸 내용 점검 (가장 중요!)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3104" y="35661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2377440"/>
            <a:ext cx="26974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8997696" y="2377440"/>
            <a:ext cx="2697480" cy="822960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7696" y="24688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3337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다듬기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388620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톤·길이·표현을 AI로 마무리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26296" y="4754880"/>
            <a:ext cx="2240280" cy="50292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72016" y="475488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“간결하게/두괄식/공문체”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거들 뿐 — 판단은 사람이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팀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전지·매직 보고서 작성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🎯 실습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 초안 → 조별 </a:t>
            </a:r>
            <a:r>
              <a:rPr sz="135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전지에 매직으로 원페이지 보고서</a:t>
            </a:r>
            <a:r>
              <a:rPr sz="135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 완성·발표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089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주제 선정·기획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0896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목적·대상·핵심 합의 (5분)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67328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858768"/>
            <a:ext cx="365760" cy="36576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587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AI로 초안 (모바일)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6732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구조 초안 → 사실 검증 (10분)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25696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517136"/>
            <a:ext cx="365760" cy="36576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1713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425696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전지에 옮겨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425696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원페이지 골격대로 작성 (20분)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84064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5175504"/>
            <a:ext cx="365760" cy="36576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755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084064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조별 발표·피드백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084064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1분 두괄식 발표 (5분)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1783080"/>
            <a:ext cx="5120640" cy="3703320"/>
          </a:xfrm>
          <a:prstGeom prst="roundRect">
            <a:avLst>
              <a:gd name="adj" fmla="val 4000"/>
            </a:avLst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🏆 평가 기준 (각 5점)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구성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6974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원페이지 골격을 갖췄는가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35584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두괄식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35584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결론·핵심이 먼저 보이는가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014216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사실성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014216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사실/의견 구분·근거가 있나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72584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전달력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672584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한눈에 이해되는 구성인가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손으로 쓰면, 머리에 남는다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PART 2 · 팀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보고서 미션카드 (택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조별로 1개를 골라 </a:t>
            </a:r>
            <a:r>
              <a:rPr sz="14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자유롭게 토론하며</a:t>
            </a:r>
            <a:r>
              <a:rPr sz="14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 원페이지 보고서로 완성하세요.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2286000"/>
            <a:ext cx="3520440" cy="457200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MISSION A · 행사기획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3464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신입사원 워크숍 개최 계획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28600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343400" y="2286000"/>
            <a:ext cx="3520440" cy="457200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MISSION B · 업무개선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34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83464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반복 업무 자동화 제안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28600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138160" y="2286000"/>
            <a:ext cx="3520440" cy="457200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MISSION C · 현황보고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34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83464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교육 만족도 조사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548640" y="3840480"/>
            <a:ext cx="3520440" cy="457200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4048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MISSION D · 상황보고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⚠️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38912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업무 지연 중간보고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8404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4343400" y="3840480"/>
            <a:ext cx="3520440" cy="457200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84048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MISSION E · 아이디어톤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389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38912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사내 문화·복지 개선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4048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8138160" y="3840480"/>
            <a:ext cx="3520440" cy="457200"/>
          </a:xfrm>
          <a:prstGeom prst="round2SameRect">
            <a:avLst>
              <a:gd name="adj1" fmla="val 20000"/>
              <a:gd name="adj2" fmla="val 0"/>
            </a:avLst>
          </a:prstGeom>
          <a:solidFill>
            <a:srgbClr val="F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840480"/>
            <a:ext cx="2971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87A2B"/>
                </a:solidFill>
                <a:latin typeface="맑은 고딕"/>
                <a:ea typeface="맑은 고딕"/>
                <a:cs typeface="맑은 고딕"/>
              </a:rPr>
              <a:t>MISSION F · 홍보기획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389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389120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MZ 겨냥 회사 SNS 홍보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어떤 일이든, 보고는 한 장이면 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WRAP-UP · 핵심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F2444"/>
                </a:solidFill>
                <a:latin typeface="맑은 고딕"/>
                <a:ea typeface="맑은 고딕"/>
                <a:cs typeface="맑은 고딕"/>
              </a:rPr>
              <a:t>오늘 챙겨갈 5가지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914400" cy="54864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57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C6B8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9441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46304" cy="713232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56816"/>
            <a:ext cx="365760" cy="36576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568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83080"/>
            <a:ext cx="98142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AI는 ‘도구’ — 일을 더 빠르게 돕는다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24328"/>
            <a:ext cx="1109441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624328"/>
            <a:ext cx="146304" cy="713232"/>
          </a:xfrm>
          <a:prstGeom prst="roundRect">
            <a:avLst>
              <a:gd name="adj" fmla="val 50000"/>
            </a:avLst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798064"/>
            <a:ext cx="365760" cy="36576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624328"/>
            <a:ext cx="98142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좋은 질문이 좋은 결과를 만든다 (R·O·C·F·E·C)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65576"/>
            <a:ext cx="1109441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465576"/>
            <a:ext cx="146304" cy="713232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639312"/>
            <a:ext cx="365760" cy="36576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3931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65576"/>
            <a:ext cx="98142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결과물은 ‘초안’ — 사실·수치는 내가 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06824"/>
            <a:ext cx="1109441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306824"/>
            <a:ext cx="146304" cy="713232"/>
          </a:xfrm>
          <a:prstGeom prst="roundRect">
            <a:avLst>
              <a:gd name="adj" fmla="val 50000"/>
            </a:avLst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4480560"/>
            <a:ext cx="365760" cy="36576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306824"/>
            <a:ext cx="98142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보고는 두괄식 — 결론부터, 사실/의견 구분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48072"/>
            <a:ext cx="1109441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E"/>
            </a:solidFill>
          </a:ln>
          <a:effectLst/>
          <a:effectLst>
            <a:outerShdw blurRad="90000" dist="40000" dir="5400000" rotWithShape="0">
              <a:srgbClr val="1B27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148072"/>
            <a:ext cx="146304" cy="713232"/>
          </a:xfrm>
          <a:prstGeom prst="roundRect">
            <a:avLst>
              <a:gd name="adj" fmla="val 50000"/>
            </a:avLst>
          </a:prstGeom>
          <a:solidFill>
            <a:srgbClr val="D2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5321808"/>
            <a:ext cx="365760" cy="365760"/>
          </a:xfrm>
          <a:prstGeom prst="ellipse">
            <a:avLst/>
          </a:prstGeom>
          <a:solidFill>
            <a:srgbClr val="D2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2180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148072"/>
            <a:ext cx="981425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B2738"/>
                </a:solidFill>
                <a:latin typeface="맑은 고딕"/>
                <a:ea typeface="맑은 고딕"/>
                <a:cs typeface="맑은 고딕"/>
              </a:rPr>
              <a:t>보안 최우선 — 민감·대외비는 공개형 AI 금지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291072"/>
            <a:ext cx="12191695" cy="45720"/>
          </a:xfrm>
          <a:prstGeom prst="rect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309360"/>
            <a:ext cx="110944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배운 한 가지를, 내일 업무에서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"/>
            <a:ext cx="12191695" cy="7315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097280"/>
            <a:ext cx="4114800" cy="4114800"/>
          </a:xfrm>
          <a:prstGeom prst="ellipse">
            <a:avLst/>
          </a:prstGeom>
          <a:solidFill>
            <a:srgbClr val="16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2B13C"/>
                </a:solidFill>
                <a:latin typeface="맑은 고딕"/>
                <a:ea typeface="맑은 고딕"/>
                <a:cs typeface="맑은 고딕"/>
              </a:rPr>
              <a:t>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내일부터 이렇게 써보겠습니다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1097280" cy="6400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749039"/>
            <a:ext cx="457200" cy="457200"/>
          </a:xfrm>
          <a:prstGeom prst="ellipse">
            <a:avLst/>
          </a:prstGeom>
          <a:solidFill>
            <a:srgbClr val="12A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673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활용 1가지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예: 회의록 요약을 노트북LM으로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56616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3749039"/>
            <a:ext cx="457200" cy="457200"/>
          </a:xfrm>
          <a:prstGeom prst="ellipse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7490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7673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 습관 1가지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예: 모든 보고는 결론부터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56616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3749039"/>
            <a:ext cx="457200" cy="457200"/>
          </a:xfrm>
          <a:prstGeom prst="ellipse">
            <a:avLst/>
          </a:prstGeom>
          <a:solidFill>
            <a:srgbClr val="F2B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490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7673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주 실천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예: 주간보고를 AI 초안→검증으로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FC7F0"/>
                </a:solidFill>
                <a:latin typeface="맑은 고딕"/>
                <a:ea typeface="맑은 고딕"/>
                <a:cs typeface="맑은 고딕"/>
              </a:rPr>
              <a:t>한전원자력연료 · 2026 신입직원 입문교육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