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6858000" cy="990569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201168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01168"/>
            <a:ext cx="6858000" cy="64008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840480" y="914400"/>
            <a:ext cx="3840480" cy="3840480"/>
          </a:xfrm>
          <a:prstGeom prst="ellipse">
            <a:avLst/>
          </a:prstGeom>
          <a:solidFill>
            <a:srgbClr val="16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572000" y="457200"/>
            <a:ext cx="2103120" cy="2103120"/>
          </a:xfrm>
          <a:prstGeom prst="ellipse">
            <a:avLst/>
          </a:prstGeom>
          <a:solidFill>
            <a:srgbClr val="1E4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160520" y="1234440"/>
            <a:ext cx="3200400" cy="3200400"/>
          </a:xfrm>
          <a:prstGeom prst="ellipse">
            <a:avLst/>
          </a:prstGeom>
          <a:noFill/>
          <a:ln w="19050">
            <a:solidFill>
              <a:srgbClr val="12A1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37160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9FC7F0"/>
                </a:solidFill>
                <a:latin typeface="맑은 고딕"/>
                <a:ea typeface="맑은 고딕"/>
                <a:cs typeface="맑은 고딕"/>
              </a:rPr>
              <a:t>한전원자력연료  ·  신입직원 입문교육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288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생성형 AI 스마트워크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&amp; AI 활용 보고서 작성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246120"/>
            <a:ext cx="1097280" cy="64008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474720"/>
            <a:ext cx="5852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CFDEF0"/>
                </a:solidFill>
                <a:latin typeface="맑은 고딕"/>
                <a:ea typeface="맑은 고딕"/>
                <a:cs typeface="맑은 고딕"/>
              </a:rPr>
              <a:t>제미나이 · 노트북LM · AI 스튜디오를 </a:t>
            </a:r>
            <a:r>
              <a:rPr sz="1400" b="1">
                <a:solidFill>
                  <a:srgbClr val="F2B13C"/>
                </a:solidFill>
                <a:latin typeface="맑은 고딕"/>
                <a:ea typeface="맑은 고딕"/>
                <a:cs typeface="맑은 고딕"/>
              </a:rPr>
              <a:t>모바일</a:t>
            </a:r>
            <a:r>
              <a:rPr sz="1400" b="0">
                <a:solidFill>
                  <a:srgbClr val="CFDEF0"/>
                </a:solidFill>
                <a:latin typeface="맑은 고딕"/>
                <a:ea typeface="맑은 고딕"/>
                <a:cs typeface="맑은 고딕"/>
              </a:rPr>
              <a:t>로 익히고,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CFDEF0"/>
                </a:solidFill>
                <a:latin typeface="맑은 고딕"/>
                <a:ea typeface="맑은 고딕"/>
                <a:cs typeface="맑은 고딕"/>
              </a:rPr>
              <a:t>AI로 기획부터 보고서까지 — 교재만 보고 따라 하는 실습 가이드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6766560"/>
            <a:ext cx="5943600" cy="2057400"/>
          </a:xfrm>
          <a:prstGeom prst="roundRect">
            <a:avLst>
              <a:gd name="adj" fmla="val 4000"/>
            </a:avLst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699516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교 육 개 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7406640"/>
            <a:ext cx="1280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2B13C"/>
                </a:solidFill>
                <a:latin typeface="맑은 고딕"/>
                <a:ea typeface="맑은 고딕"/>
                <a:cs typeface="맑은 고딕"/>
              </a:rPr>
              <a:t>일   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740664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2026. 7. 8.(수)  13:00 ~ 18:00  (총 5H)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7818120"/>
            <a:ext cx="1280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2B13C"/>
                </a:solidFill>
                <a:latin typeface="맑은 고딕"/>
                <a:ea typeface="맑은 고딕"/>
                <a:cs typeface="맑은 고딕"/>
              </a:rPr>
              <a:t>대   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781812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신입직원 107명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8229600"/>
            <a:ext cx="1280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2B13C"/>
                </a:solidFill>
                <a:latin typeface="맑은 고딕"/>
                <a:ea typeface="맑은 고딕"/>
                <a:cs typeface="맑은 고딕"/>
              </a:rPr>
              <a:t>구   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822960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생성형 AI 스마트워크 (13~16시)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859536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② AI 활용 보고서 작성 (16~18시)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946404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6A6CC"/>
                </a:solidFill>
                <a:latin typeface="맑은 고딕"/>
                <a:ea typeface="맑은 고딕"/>
                <a:cs typeface="맑은 고딕"/>
              </a:rPr>
              <a:t>KEPCO Nuclear Fuel  ·  2026 신입직원 입문교육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B5EA8"/>
                </a:solidFill>
                <a:latin typeface="맑은 고딕"/>
                <a:ea typeface="맑은 고딕"/>
                <a:cs typeface="맑은 고딕"/>
              </a:rPr>
              <a:t>OVERVIEW  ·  과정 안내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5시간의 여정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5943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오후 한나절, </a:t>
            </a:r>
            <a:r>
              <a:rPr sz="13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‘AI로 일하는 법’</a:t>
            </a:r>
            <a:r>
              <a:rPr sz="13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과 </a:t>
            </a:r>
            <a:r>
              <a:rPr sz="13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‘제대로 보고하는 법’</a:t>
            </a:r>
            <a:r>
              <a:rPr sz="13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을 손으로 익힙니다.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94560"/>
            <a:ext cx="5943600" cy="1280160"/>
          </a:xfrm>
          <a:prstGeom prst="roundRect">
            <a:avLst>
              <a:gd name="adj" fmla="val 6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2194560"/>
            <a:ext cx="128016" cy="1280160"/>
          </a:xfrm>
          <a:prstGeom prst="roundRect">
            <a:avLst>
              <a:gd name="adj" fmla="val 50000"/>
            </a:avLst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3232" y="2441448"/>
            <a:ext cx="804672" cy="804672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2441448"/>
            <a:ext cx="804672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237744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PART 1  ·  13:00~16:00 (3H)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60604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생성형 AI 스마트워크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03580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제미나이 · 노트북LM · AI 스튜디오를 모바일로 직접 실습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657600"/>
            <a:ext cx="5943600" cy="1280160"/>
          </a:xfrm>
          <a:prstGeom prst="roundRect">
            <a:avLst>
              <a:gd name="adj" fmla="val 6000"/>
            </a:avLst>
          </a:prstGeom>
          <a:solidFill>
            <a:srgbClr val="FC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" y="3657600"/>
            <a:ext cx="128016" cy="128016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3232" y="3904488"/>
            <a:ext cx="804672" cy="804672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3904488"/>
            <a:ext cx="804672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384048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PART 2  ·  16:00~18:00 (2H)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406908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AI 활용 보고서 작성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449884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보고의 기본·기획력 + 전지·매직으로 조별 보고서 작성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349240"/>
            <a:ext cx="5943600" cy="1783080"/>
          </a:xfrm>
          <a:prstGeom prst="roundRect">
            <a:avLst>
              <a:gd name="adj" fmla="val 4000"/>
            </a:avLst>
          </a:prstGeom>
          <a:solidFill>
            <a:srgbClr val="F3F6FB"/>
          </a:solidFill>
          <a:ln w="12700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5321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📱  이 교재 사용법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94360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11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강의 흐름에 맞춰 핵심을 ‘읽고’, 빈칸·워크시트에 ‘적으며’ 따라오세요.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236208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11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모든 실습은 개인 스마트폰으로 진행합니다 — PC가 없어도 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528816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11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교재의 프롬프트 예시는 그대로 복사해 사용해도 좋습니다.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821424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11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오늘 만든 결과물이 곧 내일 업무에서 쓰는 ‘나의 도구’가 됩니다.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7360920"/>
            <a:ext cx="5943600" cy="2011680"/>
          </a:xfrm>
          <a:prstGeom prst="roundRect">
            <a:avLst>
              <a:gd name="adj" fmla="val 4000"/>
            </a:avLst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75438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2B13C"/>
                </a:solidFill>
                <a:latin typeface="맑은 고딕"/>
                <a:ea typeface="맑은 고딕"/>
                <a:cs typeface="맑은 고딕"/>
              </a:rPr>
              <a:t>준비물 체크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3232" y="8001000"/>
            <a:ext cx="1755648" cy="1143000"/>
          </a:xfrm>
          <a:prstGeom prst="roundRect">
            <a:avLst>
              <a:gd name="adj" fmla="val 8000"/>
            </a:avLst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8156448"/>
            <a:ext cx="17556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구글 계정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" y="8522208"/>
            <a:ext cx="157276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BFD2E8"/>
                </a:solidFill>
                <a:latin typeface="맑은 고딕"/>
                <a:ea typeface="맑은 고딕"/>
                <a:cs typeface="맑은 고딕"/>
              </a:rPr>
              <a:t>Gmail 로그인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BFD2E8"/>
                </a:solidFill>
                <a:latin typeface="맑은 고딕"/>
                <a:ea typeface="맑은 고딕"/>
                <a:cs typeface="맑은 고딕"/>
              </a:rPr>
              <a:t>(없으면 즉시 가입)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15184" y="8001000"/>
            <a:ext cx="1755648" cy="1143000"/>
          </a:xfrm>
          <a:prstGeom prst="roundRect">
            <a:avLst>
              <a:gd name="adj" fmla="val 8000"/>
            </a:avLst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15184" y="8156448"/>
            <a:ext cx="17556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크롬 / 사파리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06624" y="8522208"/>
            <a:ext cx="157276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BFD2E8"/>
                </a:solidFill>
                <a:latin typeface="맑은 고딕"/>
                <a:ea typeface="맑은 고딕"/>
                <a:cs typeface="맑은 고딕"/>
              </a:rPr>
              <a:t>모바일 웹브라우저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17136" y="8001000"/>
            <a:ext cx="1755648" cy="1143000"/>
          </a:xfrm>
          <a:prstGeom prst="roundRect">
            <a:avLst>
              <a:gd name="adj" fmla="val 8000"/>
            </a:avLst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17136" y="8156448"/>
            <a:ext cx="17556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필기구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08576" y="8522208"/>
            <a:ext cx="157276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BFD2E8"/>
                </a:solidFill>
                <a:latin typeface="맑은 고딕"/>
                <a:ea typeface="맑은 고딕"/>
                <a:cs typeface="맑은 고딕"/>
              </a:rPr>
              <a:t>워크시트 작성용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201168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01168"/>
            <a:ext cx="6858000" cy="54864"/>
          </a:xfrm>
          <a:prstGeom prst="rect">
            <a:avLst/>
          </a:prstGeom>
          <a:solidFill>
            <a:srgbClr val="F2B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023360" y="1005840"/>
            <a:ext cx="3383280" cy="3383280"/>
          </a:xfrm>
          <a:prstGeom prst="ellipse">
            <a:avLst/>
          </a:prstGeom>
          <a:solidFill>
            <a:srgbClr val="16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480560" y="594360"/>
            <a:ext cx="2377440" cy="2377440"/>
          </a:xfrm>
          <a:prstGeom prst="ellipse">
            <a:avLst/>
          </a:prstGeom>
          <a:noFill/>
          <a:ln w="19050">
            <a:solidFill>
              <a:srgbClr val="12A1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920240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PART 1  ·  13:00 ~ 16:00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95728"/>
            <a:ext cx="5852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생성형 AI 스마트워크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91840"/>
            <a:ext cx="5852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9FC7F0"/>
                </a:solidFill>
                <a:latin typeface="맑은 고딕"/>
                <a:ea typeface="맑은 고딕"/>
                <a:cs typeface="맑은 고딕"/>
              </a:rPr>
              <a:t>SMART WORK WITH GENERATIVE 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822191"/>
            <a:ext cx="1005840" cy="54864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041648"/>
            <a:ext cx="5760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CFDEF0"/>
                </a:solidFill>
                <a:latin typeface="맑은 고딕"/>
                <a:ea typeface="맑은 고딕"/>
                <a:cs typeface="맑은 고딕"/>
              </a:rPr>
              <a:t>스마트폰만 있으면 누구나, 지금 바로. 세 가지 AI 도구로 업무 속도를 바꿉니다.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440680"/>
            <a:ext cx="5943600" cy="914400"/>
          </a:xfrm>
          <a:prstGeom prst="roundRect">
            <a:avLst>
              <a:gd name="adj" fmla="val 7000"/>
            </a:avLst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8368" y="5660136"/>
            <a:ext cx="475488" cy="475488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5660136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560527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제미나이 (Gemini)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95274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B7CBE3"/>
                </a:solidFill>
                <a:latin typeface="맑은 고딕"/>
                <a:ea typeface="맑은 고딕"/>
                <a:cs typeface="맑은 고딕"/>
              </a:rPr>
              <a:t>이미지·영상·문서를 만드는 만능 AI 어시스턴트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464808"/>
            <a:ext cx="5943600" cy="914400"/>
          </a:xfrm>
          <a:prstGeom prst="roundRect">
            <a:avLst>
              <a:gd name="adj" fmla="val 7000"/>
            </a:avLst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8368" y="6684264"/>
            <a:ext cx="475488" cy="475488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684264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66294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노트북LM (NotebookLM)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6976872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B7CBE3"/>
                </a:solidFill>
                <a:latin typeface="맑은 고딕"/>
                <a:ea typeface="맑은 고딕"/>
                <a:cs typeface="맑은 고딕"/>
              </a:rPr>
              <a:t>내 문서만 읽고 답하는 출처 기반 AI 분석가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7488936"/>
            <a:ext cx="5943600" cy="914400"/>
          </a:xfrm>
          <a:prstGeom prst="roundRect">
            <a:avLst>
              <a:gd name="adj" fmla="val 7000"/>
            </a:avLst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58368" y="7708392"/>
            <a:ext cx="475488" cy="475488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7708392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765352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스튜디오 (AI Studio)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80010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B7CBE3"/>
                </a:solidFill>
                <a:latin typeface="맑은 고딕"/>
                <a:ea typeface="맑은 고딕"/>
                <a:cs typeface="맑은 고딕"/>
              </a:rPr>
              <a:t>코딩 없이 챗봇·앱을 만드는 AI 개발 도구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PART 1  제미나이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제미나이란? &amp; 모바일 시작하기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00200"/>
            <a:ext cx="5943600" cy="1024128"/>
          </a:xfrm>
          <a:prstGeom prst="roundRect">
            <a:avLst>
              <a:gd name="adj" fmla="val 5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118872" cy="1024128"/>
          </a:xfrm>
          <a:prstGeom prst="roundRect">
            <a:avLst>
              <a:gd name="adj" fmla="val 50000"/>
            </a:avLst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한 줄 정의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20824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구글이 만든 AI 어시스턴트. 말이나 글로 요청하면 이미지·문서·번역·요약까지 만들어 줘요. 구글 계정만 있으면 무료!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8892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4가지 핵심 기능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172968"/>
            <a:ext cx="1403604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337560"/>
            <a:ext cx="14036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🖼️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831336"/>
            <a:ext cx="14036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이미지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105656"/>
            <a:ext cx="131216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아이디어 스케치·시각자료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970532" y="3172968"/>
            <a:ext cx="1403604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70532" y="3337560"/>
            <a:ext cx="14036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70532" y="3831336"/>
            <a:ext cx="14036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영상·음악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6252" y="4105656"/>
            <a:ext cx="131216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홍보 스크립트·사내방송 기획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83864" y="3172968"/>
            <a:ext cx="1403604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83864" y="3337560"/>
            <a:ext cx="14036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83864" y="3831336"/>
            <a:ext cx="14036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캔버스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9584" y="4105656"/>
            <a:ext cx="131216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기획서·보고서·번역 전용 공간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97196" y="3172968"/>
            <a:ext cx="1403604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97196" y="3337560"/>
            <a:ext cx="14036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97196" y="3831336"/>
            <a:ext cx="14036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대화·요약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42916" y="4105656"/>
            <a:ext cx="131216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자료 요약·아이디어 정리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773168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모바일로 시작하기 — 3단계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175504"/>
            <a:ext cx="5943600" cy="713232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66928" y="5321808"/>
            <a:ext cx="420624" cy="420624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532180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" y="5266944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크롬·사파리에서 gemini.google.com 접속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" y="5559552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주소창에 직접 입력하거나 ‘제미나이’ 검색 → 첫 번째 링크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5980176"/>
            <a:ext cx="5943600" cy="713232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66928" y="6126480"/>
            <a:ext cx="420624" cy="420624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612648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6071616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구글 계정으로 로그인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3000" y="6364224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회사 계정 말고 개인 구글 계정 권장 · 별도 앱 설치 불필요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784848"/>
            <a:ext cx="5943600" cy="713232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66928" y="6931152"/>
            <a:ext cx="420624" cy="420624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6931152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3000" y="6876288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대화창에 한국어로 요청 입력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168896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“○○ 보고서 초안 써줘”처럼 말하듯 입력하면 끝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7818120"/>
            <a:ext cx="5943600" cy="594360"/>
          </a:xfrm>
          <a:prstGeom prst="roundRect">
            <a:avLst>
              <a:gd name="adj" fmla="val 8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7818120"/>
            <a:ext cx="5541264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TIP   </a:t>
            </a: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안드로이드는 ‘Gemini 앱’, 아이폰은 ‘구글 앱’ 안에서도 바로 쓸 수 있어요.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말로 요청하면, AI가 일을 합니다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PART 1  제미나이  |  기능 ①  이미지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이미지로 아이디어를 빠르게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5943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사용법  </a:t>
            </a: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대화창에 내용을 설명한 뒤 ‘이미지 만들기’ — 또는 “위 내용을 포스터로 그려줘”라고 직접 입력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48840"/>
            <a:ext cx="2880360" cy="27432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" y="2295144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295144"/>
            <a:ext cx="8686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활용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276856"/>
            <a:ext cx="1600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교육·홍보자료 시각화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697480"/>
            <a:ext cx="24963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신입 안전교육 카드뉴스, 사내 캠페인 포스터 등 발표·게시용 이미지를 몇 초 만에 시안으로 받아볼 수 있어요.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4032504"/>
            <a:ext cx="2551176" cy="731520"/>
          </a:xfrm>
          <a:prstGeom prst="roundRect">
            <a:avLst>
              <a:gd name="adj" fmla="val 7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4105656"/>
            <a:ext cx="23317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💬 프롬프트 예시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4315968"/>
            <a:ext cx="2313432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“원자력연료 품질의 중요성을 알리는 사내 안전 캠페인 포스터를 깔끔하고 신뢰감 있는 분위기로 그려줘.”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20440" y="2148840"/>
            <a:ext cx="2880360" cy="27432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685032" y="2295144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85032" y="2295144"/>
            <a:ext cx="8686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활용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2276856"/>
            <a:ext cx="1600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개념·공정 시각화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03320" y="2697480"/>
            <a:ext cx="24963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글로만 된 설명을 보완하는 다이어그램·삽화 아이디어를 얻어 발표자료와 교육자료의 이해도를 높일 수 있어요.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85032" y="4032504"/>
            <a:ext cx="2551176" cy="731520"/>
          </a:xfrm>
          <a:prstGeom prst="roundRect">
            <a:avLst>
              <a:gd name="adj" fmla="val 7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13048" y="4105656"/>
            <a:ext cx="23317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💬 프롬프트 예시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13048" y="4315968"/>
            <a:ext cx="2313432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“핵연료 집합체의 기본 구조를 신입사원도 이해하기 쉽게 단순한 다이어그램 스타일로 그려줘. 레이블 포함.”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16636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이미지 만들기 — 3단계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568696"/>
            <a:ext cx="5943600" cy="713232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5715000"/>
            <a:ext cx="420624" cy="420624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571500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5660136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주제·분위기·용도를 구체적으로 입력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5952744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“교육용 삽화”, “홍보 포스터”처럼 용도까지 적으면 결과가 좋아요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6373368"/>
            <a:ext cx="5943600" cy="713232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66928" y="6519672"/>
            <a:ext cx="420624" cy="420624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6519672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" y="6464808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‘이미지 만들기’ 버튼 또는 직접 요청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3000" y="6757416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“위 내용을 이미지로 그려줘” / “포스터 스타일로”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7178040"/>
            <a:ext cx="5943600" cy="713232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66928" y="7324344"/>
            <a:ext cx="420624" cy="420624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732434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3000" y="7269480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결과 확인 후 수정 요청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562088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“더 밝게”, “가로 배치로” 처럼 추가로 다듬기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8183879"/>
            <a:ext cx="5943600" cy="502920"/>
          </a:xfrm>
          <a:prstGeom prst="roundRect">
            <a:avLst>
              <a:gd name="adj" fmla="val 8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" y="8183879"/>
            <a:ext cx="554126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TIP   </a:t>
            </a: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사진 속 부품·도표를 올리고 “이게 뭔지 설명해줘”처럼 이미지로 질문도 할 수 있어요.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찾지 말고, 만들어서 쓰세요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PART 1  제미나이  |  기능 ②  영상·음악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영상 스크립트 &amp; 사내방송 기획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00200"/>
            <a:ext cx="2880360" cy="27432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" y="1746504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746504"/>
            <a:ext cx="8686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활용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1728216"/>
            <a:ext cx="1600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홍보·교육 영상 스크립트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148840"/>
            <a:ext cx="24963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사내 SNS·유튜브용 짧은 영상의 기획안과 대본을 순식간에 작성해 줘요. 촬영 전 구성을 빠르게 잡을 수 있어요.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" y="3483864"/>
            <a:ext cx="2551176" cy="731520"/>
          </a:xfrm>
          <a:prstGeom prst="roundRect">
            <a:avLst>
              <a:gd name="adj" fmla="val 7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3557016"/>
            <a:ext cx="23317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💬 프롬프트 예시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767328"/>
            <a:ext cx="2313432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“신입사원이 소개하는 ‘우리 회사 1분 영상’ 쇼츠 스크립트를 써줘. 밝고 친근한 톤, 자막 문구 포함.”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20440" y="1600200"/>
            <a:ext cx="2880360" cy="27432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685032" y="1746504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85032" y="1746504"/>
            <a:ext cx="8686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활용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1728216"/>
            <a:ext cx="1600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행사·캠페인 음악 기획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2148840"/>
            <a:ext cx="24963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체육대회·안전주간 등 사내 행사 BGM 분위기와 응원가 가사 아이디어를 제안받아 기획 시간을 줄일 수 있어요.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85032" y="3483864"/>
            <a:ext cx="2551176" cy="731520"/>
          </a:xfrm>
          <a:prstGeom prst="roundRect">
            <a:avLst>
              <a:gd name="adj" fmla="val 7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13048" y="3557016"/>
            <a:ext cx="23317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💬 프롬프트 예시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13048" y="3767328"/>
            <a:ext cx="2313432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“전사 안전주간 캠페인에 어울리는 경쾌한 응원가 가사를 써줘. 후렴 반복, 안전 메시지 포함.”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526280"/>
            <a:ext cx="5943600" cy="1554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0080" y="4690872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690872"/>
            <a:ext cx="8686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활용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27632" y="4672584"/>
            <a:ext cx="45720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긴 영상·회의 자료 빠른 요약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056632"/>
            <a:ext cx="55412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길이가 긴 교육 영상이나 세미나 자막의 핵심을 텍스트로 요약받아, 보고·전파 자료로 바로 활용할 수 있어요.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532120"/>
            <a:ext cx="5577840" cy="411480"/>
          </a:xfrm>
          <a:prstGeom prst="roundRect">
            <a:avLst>
              <a:gd name="adj" fmla="val 1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5532120"/>
            <a:ext cx="5394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💬  </a:t>
            </a: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“이 영상(자막)의 핵심을 5가지 요점과 키워드로 정리해줘.”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6355080"/>
            <a:ext cx="5943600" cy="502920"/>
          </a:xfrm>
          <a:prstGeom prst="roundRect">
            <a:avLst>
              <a:gd name="adj" fmla="val 8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6355080"/>
            <a:ext cx="554126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TIP   </a:t>
            </a: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가사·대본은 먼저 ‘초안’을 만들고 “더 짧게/더 신나게”처럼 다듬으면 품질이 올라가요.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7040880"/>
            <a:ext cx="5943600" cy="2148840"/>
          </a:xfrm>
          <a:prstGeom prst="roundRect">
            <a:avLst>
              <a:gd name="adj" fmla="val 4000"/>
            </a:avLst>
          </a:prstGeom>
          <a:solidFill>
            <a:srgbClr val="FB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57200" y="7040880"/>
            <a:ext cx="118872" cy="2148840"/>
          </a:xfrm>
          <a:prstGeom prst="roundRect">
            <a:avLst>
              <a:gd name="adj" fmla="val 50000"/>
            </a:avLst>
          </a:prstGeom>
          <a:solidFill>
            <a:srgbClr val="D24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722376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D24B3E"/>
                </a:solidFill>
                <a:latin typeface="맑은 고딕"/>
                <a:ea typeface="맑은 고딕"/>
                <a:cs typeface="맑은 고딕"/>
              </a:rPr>
              <a:t>🔒  보안 — 꼭 지켜주세요 (원자력 업종 특성)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760780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D24B3E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대외비·보안자료, 미공개 기술자료, 개인정보는 공개형 AI에 입력하지 않습니다.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8" y="797356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D24B3E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민감 정보는 ‘일반화된 예시’로 바꿔 질문하세요. (실제 수치·도면 제외)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833932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D24B3E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AI 결과물은 ‘초안’입니다 — 사실관계·기술 내용은 반드시 담당자·전문가가 검증.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8" y="870508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D24B3E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회사 보안지침과 정보보호 규정을 항상 우선 적용합니다.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민감정보는 빼고, 결과는 검증하고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PART 1  제미나이  |  기능 ③  캔버스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캔버스 — 기획서 · 보고서 작성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00200"/>
            <a:ext cx="5943600" cy="1024128"/>
          </a:xfrm>
          <a:prstGeom prst="roundRect">
            <a:avLst>
              <a:gd name="adj" fmla="val 5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118872" cy="1024128"/>
          </a:xfrm>
          <a:prstGeom prst="roundRect">
            <a:avLst>
              <a:gd name="adj" fmla="val 50000"/>
            </a:avLst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캔버스란?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20824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대화창 옆에 열리는 ‘문서 편집 공간’. 긴 글을 쓰고 단락별로 다듬는 문서 전용 작업실로, 기획·보고 업무에 특히 유용해요.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61488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캔버스 시작하기 — 3단계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163824"/>
            <a:ext cx="5943600" cy="713232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66928" y="3310128"/>
            <a:ext cx="420624" cy="420624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31012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255264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대화창에 문서 작성 요청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547872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“○○ 교육 운영 기획서 초안 써줘”처럼 종류·목적을 구체적으로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68496"/>
            <a:ext cx="5943600" cy="713232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4114800"/>
            <a:ext cx="420624" cy="420624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11480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059936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캔버스 창에서 초안 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352544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제미나이가 문서를 옆 창에 작성 — 단락별로 검토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773168"/>
            <a:ext cx="5943600" cy="713232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66928" y="4919472"/>
            <a:ext cx="420624" cy="420624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4919472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4864608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단락 선택 후 수정 지시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5157216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고칠 부분을 드래그 → “더 구체적으로” / “3줄로 줄여줘”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66928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이렇게 활용하세요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053328"/>
            <a:ext cx="5943600" cy="713232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6053328"/>
            <a:ext cx="5486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6163056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기획서·보고서 작성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644652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교육·행사 기획서, 업무 보고서의 뼈대를 잡고 살을 붙여 완성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858000"/>
            <a:ext cx="5943600" cy="713232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6858000"/>
            <a:ext cx="5486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🎚️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34440" y="6967728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글의 톤 바꾸기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34440" y="725119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딱딱한 보고서 → 쉬운 안내문 / 일반 글 → 격식 있는 공문체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7662672"/>
            <a:ext cx="5943600" cy="713232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7662672"/>
            <a:ext cx="5486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🌐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34440" y="7772400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다국어 번역·감수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34440" y="8055864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해외 협력사 메일·문서를 영문으로 번역하고 자연스럽게 감수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8513064"/>
            <a:ext cx="5943600" cy="502920"/>
          </a:xfrm>
          <a:prstGeom prst="roundRect">
            <a:avLst>
              <a:gd name="adj" fmla="val 8000"/>
            </a:avLst>
          </a:prstGeom>
          <a:solidFill>
            <a:srgbClr val="FC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" y="8513064"/>
            <a:ext cx="554126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TIP   </a:t>
            </a: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캔버스로 만든 보고서는 PART 2(보고서 작성)에서 그대로 이어서 활용합니다.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AI로 ‘빈 화면의 공포’를 없앤다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PART 1  제미나이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프롬프트 6원칙  R·O·C·F·E·C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5943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좋은 질문이 좋은 결과를 만듭니다. </a:t>
            </a:r>
            <a:r>
              <a:rPr sz="125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이 6가지만 챙기면 결과 품질이 확 올라가요.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40280"/>
            <a:ext cx="594360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03504" y="238658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" y="236829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2368296"/>
            <a:ext cx="1280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역할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368296"/>
            <a:ext cx="3840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“너는 원자력연료 회사의 교육 담당자야”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154680"/>
            <a:ext cx="594360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3504" y="330098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1B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" y="328269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3282696"/>
            <a:ext cx="1280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목표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3282696"/>
            <a:ext cx="3840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“신입 안전교육 기획안을 작성하고 싶어”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069080"/>
            <a:ext cx="594360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03504" y="421538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3E8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" y="419709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4197096"/>
            <a:ext cx="1280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맥락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80" y="4197096"/>
            <a:ext cx="3840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“대상은 신입 107명, 장소는 사내 강당, 2시간 분량”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983480"/>
            <a:ext cx="594360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03504" y="512978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4" y="511149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5111496"/>
            <a:ext cx="1280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형식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5111496"/>
            <a:ext cx="3840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“A4 1장, 목차·진행순서·준비물 항목 포함”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897880"/>
            <a:ext cx="594360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03504" y="604418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2B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4" y="602589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25880" y="6025896"/>
            <a:ext cx="1280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예시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68880" y="6025896"/>
            <a:ext cx="3840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“이런 형식(링크/사진)을 참고해서 만들어줘”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6812280"/>
            <a:ext cx="594360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03504" y="695858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5C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3504" y="694029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25880" y="6940296"/>
            <a:ext cx="1280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제약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68880" y="6940296"/>
            <a:ext cx="3840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“전문 용어는 쉽게 풀어서, 한국어로만”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7744968"/>
            <a:ext cx="5943600" cy="502920"/>
          </a:xfrm>
          <a:prstGeom prst="roundRect">
            <a:avLst>
              <a:gd name="adj" fmla="val 8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" y="7744968"/>
            <a:ext cx="554126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TIP   </a:t>
            </a: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여섯 개를 한 문장에 다 넣을 필요는 없어요. 결과가 아쉬울 때 빠진 항목을 추가해 보세요.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막연하게 묻지 말고, 구체적으로 시켜라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PART 1  ·  모바일 실습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제미나이로 직접 해보기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554480"/>
            <a:ext cx="5943600" cy="640080"/>
          </a:xfrm>
          <a:prstGeom prst="roundRect">
            <a:avLst>
              <a:gd name="adj" fmla="val 6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554480"/>
            <a:ext cx="5541264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📱  스마트폰으로 gemini.google.com 접속 → 아래 미션을 순서대로 수행하고 결과를 메모하세요.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377440"/>
            <a:ext cx="5943600" cy="12070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542032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542032"/>
            <a:ext cx="10515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MISSION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523744"/>
            <a:ext cx="45720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나를 소개하는 이미지 만들기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944368"/>
            <a:ext cx="5577840" cy="502920"/>
          </a:xfrm>
          <a:prstGeom prst="roundRect">
            <a:avLst>
              <a:gd name="adj" fmla="val 8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944368"/>
            <a:ext cx="53035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💬  </a:t>
            </a:r>
            <a:r>
              <a:rPr sz="10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“신입사원인 나를 표현하는 밝고 전문적인 캐릭터 이미지를 그려줘.”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675888"/>
            <a:ext cx="5943600" cy="12070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840480"/>
            <a:ext cx="10515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MISSION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822192"/>
            <a:ext cx="45720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업무 메일 톤 바꾸기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242816"/>
            <a:ext cx="5577840" cy="502920"/>
          </a:xfrm>
          <a:prstGeom prst="roundRect">
            <a:avLst>
              <a:gd name="adj" fmla="val 8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" y="4242816"/>
            <a:ext cx="53035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💬  </a:t>
            </a:r>
            <a:r>
              <a:rPr sz="10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아무 메일 문장을 붙여넣고 “정중한 비즈니스 말투로 다시 써줘.”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74336"/>
            <a:ext cx="5943600" cy="12070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" y="513892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138928"/>
            <a:ext cx="10515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MISSION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5120640"/>
            <a:ext cx="45720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6원칙으로 기획안 요청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541264"/>
            <a:ext cx="5577840" cy="502920"/>
          </a:xfrm>
          <a:prstGeom prst="roundRect">
            <a:avLst>
              <a:gd name="adj" fmla="val 8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541264"/>
            <a:ext cx="53035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💬  </a:t>
            </a:r>
            <a:r>
              <a:rPr sz="10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R·O·C·F·E·C를 넣어 “신입 워크숍 기획안”을 요청해보기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345936"/>
            <a:ext cx="5943600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57200" y="6345936"/>
            <a:ext cx="91440" cy="2331720"/>
          </a:xfrm>
          <a:prstGeom prst="roundRect">
            <a:avLst>
              <a:gd name="adj" fmla="val 50000"/>
            </a:avLst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✍️  가장 쓸모 있었던 결과 &amp; 내 업무에 적용할 아이디어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6894576"/>
            <a:ext cx="548640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5800" y="7260336"/>
            <a:ext cx="548640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5800" y="7626096"/>
            <a:ext cx="548640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85800" y="7991856"/>
            <a:ext cx="548640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85800" y="8357616"/>
            <a:ext cx="548640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써본 사람만 안다 — 일단 해보기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PART 1  노트북LM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노트북LM이란? &amp; 모바일 시작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00200"/>
            <a:ext cx="5943600" cy="1097280"/>
          </a:xfrm>
          <a:prstGeom prst="roundRect">
            <a:avLst>
              <a:gd name="adj" fmla="val 5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118872" cy="1097280"/>
          </a:xfrm>
          <a:prstGeom prst="roundRect">
            <a:avLst>
              <a:gd name="adj" fmla="val 50000"/>
            </a:avLst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한 줄 정의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20824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내가 올린 문서(PDF·웹·유튜브 등)만 참고해 답하는 AI. 지어내기(할루시네이션)가 거의 없고, 답변마다 출처 페이지를 알려줘요.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807208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왜 업무에 좋은가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00400"/>
            <a:ext cx="1889760" cy="13258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346704"/>
            <a:ext cx="1889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803904"/>
            <a:ext cx="1889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출처 기반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078224"/>
            <a:ext cx="174345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답변마다 근거 페이지 표시 — 신뢰도 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84120" y="3200400"/>
            <a:ext cx="1889760" cy="13258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84120" y="3346704"/>
            <a:ext cx="1889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84120" y="3803904"/>
            <a:ext cx="1889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내 자료만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57272" y="4078224"/>
            <a:ext cx="174345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공개 웹이 아닌 ‘내가 올린 자료’ 안에서만 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11040" y="3200400"/>
            <a:ext cx="1889760" cy="13258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11040" y="3346704"/>
            <a:ext cx="1889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11040" y="3803904"/>
            <a:ext cx="1889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요약·검색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4192" y="4078224"/>
            <a:ext cx="174345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수백 페이지를 몇 초 만에 핵심 정리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75488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모바일로 시작하기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157216"/>
            <a:ext cx="5943600" cy="713232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5303520"/>
            <a:ext cx="420624" cy="420624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530352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5248656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notebooklm.google.com 접속 · 로그인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5541264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구글 계정으로 바로 시작 — 완전 무료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961888"/>
            <a:ext cx="5943600" cy="713232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66928" y="6108192"/>
            <a:ext cx="420624" cy="420624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6108192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" y="6053328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‘+ 새 노트북’ 만들고 자료 추가(Sources)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3000" y="6345936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PDF·구글문서·웹 URL·텍스트 붙여넣기 모두 가능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6766560"/>
            <a:ext cx="5943600" cy="713232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66928" y="6912864"/>
            <a:ext cx="420624" cy="420624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691286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3000" y="6858000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인덱싱(1~3분) 후 질문 시작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150608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자연어로 질문하면 ‘출처 번호’가 붙은 답변이 나와요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7452360"/>
            <a:ext cx="5943600" cy="502920"/>
          </a:xfrm>
          <a:prstGeom prst="roundRect">
            <a:avLst>
              <a:gd name="adj" fmla="val 8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" y="7452360"/>
            <a:ext cx="554126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TIP   </a:t>
            </a: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주제별로 노트북을 나눠 만드세요. 예: ‘신입교육’, ‘사내규정’, ‘안전매뉴얼’.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내 문서가 곧 나만의 AI 비서가 된다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PART 1  노트북LM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이렇게 활용해요 — 6가지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규정·매뉴얼·보고서를 올려두고, 묻고 만들어 쓰세요.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57400"/>
            <a:ext cx="2880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203704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587752"/>
            <a:ext cx="457200" cy="45720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2185416"/>
            <a:ext cx="1965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자료 요약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660904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긴 규정집·기술보고서의 핵심을 즉시 요약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20440" y="2057400"/>
            <a:ext cx="2880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03320" y="2203704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03320" y="2587752"/>
            <a:ext cx="457200" cy="45720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43400" y="2185416"/>
            <a:ext cx="1965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문서 비교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21608" y="2660904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구버전 vs 신버전, 차이점을 표로 정리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291840"/>
            <a:ext cx="2880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438144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822192"/>
            <a:ext cx="457200" cy="45720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80160" y="3419856"/>
            <a:ext cx="1965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출처 Q&amp;A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895344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“관련 조항·페이지 찾아줘” 정확히 응답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20440" y="3291840"/>
            <a:ext cx="2880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03320" y="3438144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03320" y="3822192"/>
            <a:ext cx="457200" cy="45720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43400" y="3419856"/>
            <a:ext cx="1965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슬라이드 생성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21608" y="3895344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올린 자료로 발표용 슬라이드 초안 자동 작성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526280"/>
            <a:ext cx="2880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4672584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5056632"/>
            <a:ext cx="457200" cy="45720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80160" y="4654296"/>
            <a:ext cx="1965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오디오 요약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129784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문서를 팟캐스트형 음성 대화로 변환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520440" y="4526280"/>
            <a:ext cx="2880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03320" y="4672584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03320" y="5056632"/>
            <a:ext cx="457200" cy="45720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43400" y="4654296"/>
            <a:ext cx="1965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퀴즈·학습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21608" y="5129784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핵심용어·OX퀴즈 등 교육자료 자동 생성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806440"/>
            <a:ext cx="5943600" cy="1417320"/>
          </a:xfrm>
          <a:prstGeom prst="roundRect">
            <a:avLst>
              <a:gd name="adj" fmla="val 4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597103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💼  업무 적용 예시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9808" y="633679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10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사내 규정집을 올려두고 “출장비 지급 기준 조항을 원문으로 찾아줘”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9808" y="661111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10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여러 회의록을 올려 “이번 분기 주요 결정사항만 요약해줘”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808" y="68854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10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교육자료를 올려 “신입용 OX 퀴즈 10문제와 정답·해설 만들어줘”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지어내지 않는다, 출처를 보여준다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PART 1  노트북LM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바로 쓰는 실전 프롬프트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자료를 올린 뒤, 그대로 복사해서 질문해 보세요.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57400"/>
            <a:ext cx="594360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2057400"/>
            <a:ext cx="1051560" cy="960120"/>
          </a:xfrm>
          <a:prstGeom prst="roundRect">
            <a:avLst>
              <a:gd name="adj" fmla="val 5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057400"/>
            <a:ext cx="105156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요약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2057400"/>
            <a:ext cx="45262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“이 문서의 핵심 내용을 5가지로 정리하고, 각각의 근거 페이지 번호도 알려줘.”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108960"/>
            <a:ext cx="594360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7200" y="3108960"/>
            <a:ext cx="1051560" cy="960120"/>
          </a:xfrm>
          <a:prstGeom prst="roundRect">
            <a:avLst>
              <a:gd name="adj" fmla="val 5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108960"/>
            <a:ext cx="105156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비교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3108960"/>
            <a:ext cx="45262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“올린 두 보고서에서 ‘예산’과 ‘일정’ 부분을 비교해 차이점을 표로 만들어줘.”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160520"/>
            <a:ext cx="594360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57200" y="4160520"/>
            <a:ext cx="1051560" cy="960120"/>
          </a:xfrm>
          <a:prstGeom prst="roundRect">
            <a:avLst>
              <a:gd name="adj" fmla="val 5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160520"/>
            <a:ext cx="105156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검색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160520"/>
            <a:ext cx="45262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“이 규정집에서 ‘초과근무 수당 지급 기준’ 관련 조항을 정확한 원문으로 발췌해줘.”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212080"/>
            <a:ext cx="594360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57200" y="5212080"/>
            <a:ext cx="1051560" cy="960120"/>
          </a:xfrm>
          <a:prstGeom prst="roundRect">
            <a:avLst>
              <a:gd name="adj" fmla="val 5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212080"/>
            <a:ext cx="105156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퀴즈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5212080"/>
            <a:ext cx="45262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“이 교육자료로 신입사원용 OX 퀴즈 10문제와 정답·해설을 만들어줘.”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6263640"/>
            <a:ext cx="594360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7200" y="6263640"/>
            <a:ext cx="1051560" cy="960120"/>
          </a:xfrm>
          <a:prstGeom prst="roundRect">
            <a:avLst>
              <a:gd name="adj" fmla="val 5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6263640"/>
            <a:ext cx="105156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발표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91640" y="6263640"/>
            <a:ext cx="45262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“이 보고서를 임원 보고용 5분 발표자료로 요약하고, 예상 질문 5개도 준비해줘.”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7315200"/>
            <a:ext cx="594360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57200" y="7315200"/>
            <a:ext cx="1051560" cy="960120"/>
          </a:xfrm>
          <a:prstGeom prst="roundRect">
            <a:avLst>
              <a:gd name="adj" fmla="val 5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7315200"/>
            <a:ext cx="105156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오디오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91640" y="7315200"/>
            <a:ext cx="45262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“이 안내자료를 5분 분량의 음성 가이드 스크립트로 바꿔줘.”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좋은 질문 한 줄이 1시간을 아낀다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PART 1  ·  모바일 실습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노트북LM으로 직접 해보기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554480"/>
            <a:ext cx="5943600" cy="777240"/>
          </a:xfrm>
          <a:prstGeom prst="roundRect">
            <a:avLst>
              <a:gd name="adj" fmla="val 6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554480"/>
            <a:ext cx="554126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📱  notebooklm.google.com 접속 → 새 노트북 생성 → 강사가 제공하는(또는 임의의) PDF·웹 자료 1개를 올리고 아래 미션 수행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514600"/>
            <a:ext cx="5943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679192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679192"/>
            <a:ext cx="10515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MISSION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660904"/>
            <a:ext cx="45720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핵심 5줄 요약 받기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063240"/>
            <a:ext cx="5577840" cy="502920"/>
          </a:xfrm>
          <a:prstGeom prst="roundRect">
            <a:avLst>
              <a:gd name="adj" fmla="val 8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063240"/>
            <a:ext cx="53035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💬  </a:t>
            </a:r>
            <a:r>
              <a:rPr sz="10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“이 자료의 핵심을 5가지로, 출처 페이지와 함께 정리해줘.”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94760"/>
            <a:ext cx="5943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3959352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959352"/>
            <a:ext cx="10515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MISSION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941064"/>
            <a:ext cx="45720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출처 기반 질문하기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343400"/>
            <a:ext cx="5577840" cy="502920"/>
          </a:xfrm>
          <a:prstGeom prst="roundRect">
            <a:avLst>
              <a:gd name="adj" fmla="val 8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" y="4343400"/>
            <a:ext cx="53035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💬  </a:t>
            </a:r>
            <a:r>
              <a:rPr sz="10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자료 내용 중 궁금한 점을 묻고 ‘출처 번호’를 확인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074920"/>
            <a:ext cx="5943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" y="5239512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239512"/>
            <a:ext cx="10515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MISSION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5221224"/>
            <a:ext cx="45720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퀴즈 or 슬라이드 생성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623560"/>
            <a:ext cx="5577840" cy="502920"/>
          </a:xfrm>
          <a:prstGeom prst="roundRect">
            <a:avLst>
              <a:gd name="adj" fmla="val 8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623560"/>
            <a:ext cx="53035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💬  </a:t>
            </a:r>
            <a:r>
              <a:rPr sz="10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“OX 퀴즈 5문제” 또는 “발표 슬라이드 초안” 만들기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400800"/>
            <a:ext cx="594360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57200" y="6400800"/>
            <a:ext cx="91440" cy="2240280"/>
          </a:xfrm>
          <a:prstGeom prst="roundRect">
            <a:avLst>
              <a:gd name="adj" fmla="val 50000"/>
            </a:avLst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✍️  노트북LM을 어떤 업무 자료에 써보고 싶나요?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6949440"/>
            <a:ext cx="548640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5800" y="7383780"/>
            <a:ext cx="548640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5800" y="7818120"/>
            <a:ext cx="548640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85800" y="8252460"/>
            <a:ext cx="548640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검색하지 말고, 내 자료에게 물어보라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PART 1  AI 스튜디오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AI 스튜디오란? &amp; 활용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00200"/>
            <a:ext cx="5943600" cy="1097280"/>
          </a:xfrm>
          <a:prstGeom prst="roundRect">
            <a:avLst>
              <a:gd name="adj" fmla="val 5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118872" cy="1097280"/>
          </a:xfrm>
          <a:prstGeom prst="roundRect">
            <a:avLst>
              <a:gd name="adj" fmla="val 50000"/>
            </a:avLst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한 줄 정의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20824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구글의 최신 AI로 맞춤형 챗봇·웹앱을 만드는 개발 플랫폼. 코딩 없이 ‘말로 설명’하면 완성돼요. (aistudio.google.com · 무료)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807208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핵심 기능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00400"/>
            <a:ext cx="1403604" cy="1051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364992"/>
            <a:ext cx="13121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대용량 분석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730752"/>
            <a:ext cx="12573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수천 페이지 자료를 한 번에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70532" y="3200400"/>
            <a:ext cx="1403604" cy="1051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16252" y="3364992"/>
            <a:ext cx="13121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멀티모달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43684" y="3730752"/>
            <a:ext cx="12573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이미지·영상·음성 동시 처리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83864" y="3200400"/>
            <a:ext cx="1403604" cy="1051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29584" y="3364992"/>
            <a:ext cx="13121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챗봇 제작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57016" y="3730752"/>
            <a:ext cx="12573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우리 회사 전용 AI 챗봇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97196" y="3200400"/>
            <a:ext cx="1403604" cy="1051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2916" y="3364992"/>
            <a:ext cx="13121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업무 연동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70348" y="3730752"/>
            <a:ext cx="12573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Drive·Sheets 자동화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480560"/>
            <a:ext cx="5943600" cy="960120"/>
          </a:xfrm>
          <a:prstGeom prst="roundRect">
            <a:avLst>
              <a:gd name="adj" fmla="val 5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" y="4480560"/>
            <a:ext cx="6400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4608576"/>
            <a:ext cx="4937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맞춤형 챗봇 만들기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4901184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‘사내 규정 안내봇’, ‘신입 온보딩 도우미’처럼 성격을 정해 코딩 없이 챗봇 제작 — 사내 게시판·키오스크에 연결 가능.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532120"/>
            <a:ext cx="5943600" cy="960120"/>
          </a:xfrm>
          <a:prstGeom prst="roundRect">
            <a:avLst>
              <a:gd name="adj" fmla="val 5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5532120"/>
            <a:ext cx="6400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📊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25880" y="5660136"/>
            <a:ext cx="4937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업무 데이터 자동 분석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25880" y="5952744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구글 시트의 설문·현황 데이터를 AI가 읽고 분석·요약 — 매월 수작업하던 정리를 자동화.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583680"/>
            <a:ext cx="5943600" cy="960120"/>
          </a:xfrm>
          <a:prstGeom prst="roundRect">
            <a:avLst>
              <a:gd name="adj" fmla="val 5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1792" y="6583680"/>
            <a:ext cx="6400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🗂️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5880" y="6711696"/>
            <a:ext cx="4937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대규모 자료 교차 분석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25880" y="7004304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수백 페이지 규정·매뉴얼을 한 번에 올려 필요한 조항을 즉시 검색·정리.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7635240"/>
            <a:ext cx="5943600" cy="502920"/>
          </a:xfrm>
          <a:prstGeom prst="roundRect">
            <a:avLst>
              <a:gd name="adj" fmla="val 8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7635240"/>
            <a:ext cx="554126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TIP   </a:t>
            </a: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심화 도구예요. 오늘은 ‘이런 게 가능하구나’ 감만 잡고, 관심 있으면 차차 익혀보세요.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코딩 없이, 말로 만드는 나만의 AI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PART 1  마무리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정리 &amp; 실습 체크리스트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00200"/>
            <a:ext cx="594360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21792" y="1801368"/>
            <a:ext cx="640080" cy="640080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78308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1764792"/>
            <a:ext cx="48463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제미나이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112264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이미지·영상·캔버스로 콘텐츠와 문서를 빠르게 / 프롬프트 6원칙으로 품질 UP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743200"/>
            <a:ext cx="594360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21792" y="2944368"/>
            <a:ext cx="640080" cy="640080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292608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2907792"/>
            <a:ext cx="48463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노트북LM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3255264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내 문서만 참고 — 지어내기 최소, 출처 자동 / 요약·비교·퀴즈·슬라이드까지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86200"/>
            <a:ext cx="594360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21792" y="4087368"/>
            <a:ext cx="640080" cy="640080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406908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4050792"/>
            <a:ext cx="48463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AI 스튜디오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4398264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대용량 분석·맞춤 챗봇·업무 자동화 (코딩 불필요)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07492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오늘의 실습 체크리스트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486400"/>
            <a:ext cx="5943600" cy="4572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03504" y="5586984"/>
            <a:ext cx="256032" cy="25603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2A1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4" y="5577840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" y="5486400"/>
            <a:ext cx="52120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제미나이에 로그인하고, 이미지 1장을 만들어 봤다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16752"/>
            <a:ext cx="5943600" cy="4572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03504" y="6117336"/>
            <a:ext cx="256032" cy="25603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2A1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3504" y="610819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" y="6016752"/>
            <a:ext cx="52120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프롬프트 6원칙(R·O·C·F·E·C)으로 요청해 봤다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6547104"/>
            <a:ext cx="5943600" cy="4572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03504" y="6647688"/>
            <a:ext cx="256032" cy="25603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2A1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3504" y="663854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" y="6547104"/>
            <a:ext cx="52120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노트북LM에 자료를 올리고, 출처가 붙은 답을 받아 봤다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7077456"/>
            <a:ext cx="5943600" cy="4572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03504" y="7178040"/>
            <a:ext cx="256032" cy="25603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2A1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3504" y="7168896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" y="7077456"/>
            <a:ext cx="52120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노트북LM으로 요약 또는 퀴즈를 만들어 봤다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7607808"/>
            <a:ext cx="5943600" cy="4572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03504" y="7708392"/>
            <a:ext cx="256032" cy="25603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2A1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3504" y="7699248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" y="7607808"/>
            <a:ext cx="52120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보안 수칙(민감정보 미입력)을 이해했다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도구는 익혔다 — 이제 ‘보고’로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201168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01168"/>
            <a:ext cx="6858000" cy="54864"/>
          </a:xfrm>
          <a:prstGeom prst="rect">
            <a:avLst/>
          </a:prstGeom>
          <a:solidFill>
            <a:srgbClr val="F2B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023360" y="1005840"/>
            <a:ext cx="3383280" cy="3383280"/>
          </a:xfrm>
          <a:prstGeom prst="ellipse">
            <a:avLst/>
          </a:prstGeom>
          <a:solidFill>
            <a:srgbClr val="16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480560" y="594360"/>
            <a:ext cx="2377440" cy="2377440"/>
          </a:xfrm>
          <a:prstGeom prst="ellipse">
            <a:avLst/>
          </a:prstGeom>
          <a:noFill/>
          <a:ln w="19050">
            <a:solidFill>
              <a:srgbClr val="E87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920240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PART 2  ·  16:00 ~ 18:00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95728"/>
            <a:ext cx="5852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활용 보고서 작성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91840"/>
            <a:ext cx="5852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9FC7F0"/>
                </a:solidFill>
                <a:latin typeface="맑은 고딕"/>
                <a:ea typeface="맑은 고딕"/>
                <a:cs typeface="맑은 고딕"/>
              </a:rPr>
              <a:t>REPORT WRITING WITH 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822191"/>
            <a:ext cx="1005840" cy="54864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041648"/>
            <a:ext cx="5760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CFDEF0"/>
                </a:solidFill>
                <a:latin typeface="맑은 고딕"/>
                <a:ea typeface="맑은 고딕"/>
                <a:cs typeface="맑은 고딕"/>
              </a:rPr>
              <a:t>기본기(기획력·보고 원칙)를 다지고, AI와 손(전지·매직)으로 ‘한 장 보고서’를 완성합니다.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440680"/>
            <a:ext cx="5943600" cy="914400"/>
          </a:xfrm>
          <a:prstGeom prst="roundRect">
            <a:avLst>
              <a:gd name="adj" fmla="val 7000"/>
            </a:avLst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8368" y="5660136"/>
            <a:ext cx="475488" cy="475488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5660136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560527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보고의 기본 &amp; 기획력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95274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B7CBE3"/>
                </a:solidFill>
                <a:latin typeface="맑은 고딕"/>
                <a:ea typeface="맑은 고딕"/>
                <a:cs typeface="맑은 고딕"/>
              </a:rPr>
              <a:t>왜·무엇을·어떻게 — 보고의 원칙과 두괄식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464808"/>
            <a:ext cx="5943600" cy="914400"/>
          </a:xfrm>
          <a:prstGeom prst="roundRect">
            <a:avLst>
              <a:gd name="adj" fmla="val 7000"/>
            </a:avLst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8368" y="6684264"/>
            <a:ext cx="475488" cy="475488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684264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66294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공문서 · 원페이지 보고서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6976872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B7CBE3"/>
                </a:solidFill>
                <a:latin typeface="맑은 고딕"/>
                <a:ea typeface="맑은 고딕"/>
                <a:cs typeface="맑은 고딕"/>
              </a:rPr>
              <a:t>행정업무편람 기반 작성법과 한 장 보고 구조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7488936"/>
            <a:ext cx="5943600" cy="914400"/>
          </a:xfrm>
          <a:prstGeom prst="roundRect">
            <a:avLst>
              <a:gd name="adj" fmla="val 7000"/>
            </a:avLst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58368" y="7708392"/>
            <a:ext cx="475488" cy="475488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7708392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765352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활용 + 전지·매직 실습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80010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B7CBE3"/>
                </a:solidFill>
                <a:latin typeface="맑은 고딕"/>
                <a:ea typeface="맑은 고딕"/>
                <a:cs typeface="맑은 고딕"/>
              </a:rPr>
              <a:t>AI로 초안 → 조별 전지에 매직으로 완성·발표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PART 2  보고의 기본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왜, 보고인가?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27632"/>
            <a:ext cx="5943600" cy="1188720"/>
          </a:xfrm>
          <a:prstGeom prst="roundRect">
            <a:avLst>
              <a:gd name="adj" fmla="val 5000"/>
            </a:avLst>
          </a:prstGeom>
          <a:solidFill>
            <a:srgbClr val="FC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627632"/>
            <a:ext cx="118872" cy="118872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6479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보고란 무엇인가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48256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보고는 ‘다 끝낸 뒤 완벽하게 하는 것’이 아니라, 내 일의 상황을 상사와 ‘동기화’해 제때 판단을 돕는 행위입니다.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072384"/>
            <a:ext cx="2880360" cy="1965960"/>
          </a:xfrm>
          <a:prstGeom prst="roundRect">
            <a:avLst>
              <a:gd name="adj" fmla="val 5000"/>
            </a:avLst>
          </a:prstGeom>
          <a:solidFill>
            <a:srgbClr val="FB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3255264"/>
            <a:ext cx="24780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D24B3E"/>
                </a:solidFill>
                <a:latin typeface="맑은 고딕"/>
                <a:ea typeface="맑은 고딕"/>
                <a:cs typeface="맑은 고딕"/>
              </a:rPr>
              <a:t>❌  흔한 오해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712464"/>
            <a:ext cx="247802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“다 끝내고 완벽하게 보고해야지.”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→ 그 사이 상사는 깜깜이. 불안이 쌓이고, 문제는 손쓸 수 없을 때 드러난다.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20440" y="3072384"/>
            <a:ext cx="2880360" cy="1965960"/>
          </a:xfrm>
          <a:prstGeom prst="roundRect">
            <a:avLst>
              <a:gd name="adj" fmla="val 5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21608" y="3255264"/>
            <a:ext cx="24780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⭕  진짜 보고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21608" y="3712464"/>
            <a:ext cx="247802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상황을 상사와 ‘공유’하는 것.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→ 불안을 덜어주고 의사결정을 돕는다. 신입이 가장 빨리 신뢰를 얻는 방법.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358384"/>
            <a:ext cx="5943600" cy="2743200"/>
          </a:xfrm>
          <a:prstGeom prst="roundRect">
            <a:avLst>
              <a:gd name="adj" fmla="val 4000"/>
            </a:avLst>
          </a:prstGeom>
          <a:solidFill>
            <a:srgbClr val="F3F6FB"/>
          </a:solidFill>
          <a:ln w="12700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55955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💡  보고의 출발점은 ‘기획력’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6188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좋은 보고서는 ‘쓰기’ 전에 ‘생각’에서 결정됩니다. 쓰기 전 3가지를 먼저 정하세요.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6528816"/>
            <a:ext cx="5394960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6528816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Why  목적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40" y="6528816"/>
            <a:ext cx="374903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이 보고로 무엇을 결정하게 할 것인가?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7031736"/>
            <a:ext cx="5394960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7031736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Who  대상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7031736"/>
            <a:ext cx="374903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누가 읽는가? 그가 궁금한 것은 무엇인가?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7534656"/>
            <a:ext cx="5394960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7534656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What  핵심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7534656"/>
            <a:ext cx="374903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한 문장으로 줄이면? = 가장 하고 싶은 말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작은 보고가 쌓여 ‘신뢰’가 된다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PART 2  보고의 기본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좋은 보고의 3원칙 &amp; 두괄식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잘된 보고는 언제나 이 세 가지를 만족합니다.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57400"/>
            <a:ext cx="188976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82040" y="2212848"/>
            <a:ext cx="640080" cy="640080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2040" y="219456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926080"/>
            <a:ext cx="188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적시성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246120"/>
            <a:ext cx="170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필요한 순간에 — 늦은 100점보다 빠른 70점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84120" y="2057400"/>
            <a:ext cx="188976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108960" y="2212848"/>
            <a:ext cx="640080" cy="640080"/>
          </a:xfrm>
          <a:prstGeom prst="ellipse">
            <a:avLst/>
          </a:prstGeom>
          <a:solidFill>
            <a:srgbClr val="1B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08960" y="219456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84120" y="2926080"/>
            <a:ext cx="188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정확성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75560" y="3246120"/>
            <a:ext cx="170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사실과 의견을 구분해서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11040" y="2057400"/>
            <a:ext cx="188976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135880" y="2212848"/>
            <a:ext cx="640080" cy="640080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35880" y="219456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11040" y="2926080"/>
            <a:ext cx="188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간결성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02480" y="3246120"/>
            <a:ext cx="170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결론부터, 짧게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84048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두괄식 = 결론부터, 그리고 </a:t>
            </a:r>
            <a:r>
              <a:rPr sz="135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PREP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251960"/>
            <a:ext cx="5943600" cy="1417320"/>
          </a:xfrm>
          <a:prstGeom prst="roundRect">
            <a:avLst>
              <a:gd name="adj" fmla="val 4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94360" y="4407408"/>
            <a:ext cx="134874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E87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4517136"/>
            <a:ext cx="13487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4937760"/>
            <a:ext cx="1348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Point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5193792"/>
            <a:ext cx="1348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결론부터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034540" y="4407408"/>
            <a:ext cx="134874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E87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034540" y="4517136"/>
            <a:ext cx="13487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34540" y="4937760"/>
            <a:ext cx="1348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Reason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34540" y="5193792"/>
            <a:ext cx="1348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근거·이유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474720" y="4407408"/>
            <a:ext cx="134874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E87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74720" y="4517136"/>
            <a:ext cx="13487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74720" y="4937760"/>
            <a:ext cx="1348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Example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74720" y="5193792"/>
            <a:ext cx="1348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사례·수치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914900" y="4407408"/>
            <a:ext cx="134874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E87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14900" y="4517136"/>
            <a:ext cx="13487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14900" y="4937760"/>
            <a:ext cx="1348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Point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14900" y="5193792"/>
            <a:ext cx="1348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결론 재확인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5852160"/>
            <a:ext cx="5943600" cy="1828800"/>
          </a:xfrm>
          <a:prstGeom prst="roundRect">
            <a:avLst>
              <a:gd name="adj" fmla="val 4000"/>
            </a:avLst>
          </a:prstGeom>
          <a:solidFill>
            <a:srgbClr val="FC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5998464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🌀 미괄식 (신입 디폴트)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630936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“어제 거래처 연락이 왔는데, 담당자가 바뀌어서… 결국 일정이 2일 밀릴 것 같습니다.”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68122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⭐ 두괄식 (일잘러)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713232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“일정이 2일 지연될 것 같습니다.(결론) 담당자 교체 때문이고, 대안은 △△입니다.”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첫 문장이 보고의 승부처다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PART 2  기본 이론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공문서 작성법 (행정업무편람)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00200"/>
            <a:ext cx="5943600" cy="1097280"/>
          </a:xfrm>
          <a:prstGeom prst="roundRect">
            <a:avLst>
              <a:gd name="adj" fmla="val 5000"/>
            </a:avLst>
          </a:prstGeom>
          <a:solidFill>
            <a:srgbClr val="FC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118872" cy="109728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공문서란?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20824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회사의 의사를 공식적으로 기록·전달하는 문서. ‘정해진 형식’과 ‘정확한 표현’이 생명입니다. 행정업무편람의 기본 원칙을 따릅니다.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807208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작성 5원칙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00400"/>
            <a:ext cx="5943600" cy="548640"/>
          </a:xfrm>
          <a:prstGeom prst="roundRect">
            <a:avLst>
              <a:gd name="adj" fmla="val 1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21792" y="3319272"/>
            <a:ext cx="310896" cy="310896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330098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00400"/>
            <a:ext cx="14630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정확성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3200400"/>
            <a:ext cx="4114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사실에 근거 · 오탈자·숫자 오류 없이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5943600" cy="548640"/>
          </a:xfrm>
          <a:prstGeom prst="roundRect">
            <a:avLst>
              <a:gd name="adj" fmla="val 1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21792" y="3941064"/>
            <a:ext cx="310896" cy="310896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392277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822192"/>
            <a:ext cx="14630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간결성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0320" y="3822192"/>
            <a:ext cx="4114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한 문장 한 뜻 · 군더더기 없이 짧게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443984"/>
            <a:ext cx="5943600" cy="548640"/>
          </a:xfrm>
          <a:prstGeom prst="roundRect">
            <a:avLst>
              <a:gd name="adj" fmla="val 1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21792" y="4562856"/>
            <a:ext cx="310896" cy="310896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" y="454456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4443984"/>
            <a:ext cx="14630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명확성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0" y="4443984"/>
            <a:ext cx="4114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애매한 표현 금지 · 누가 봐도 같은 의미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065776"/>
            <a:ext cx="5943600" cy="548640"/>
          </a:xfrm>
          <a:prstGeom prst="roundRect">
            <a:avLst>
              <a:gd name="adj" fmla="val 1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21792" y="5184648"/>
            <a:ext cx="310896" cy="310896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51663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" y="5065776"/>
            <a:ext cx="14630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성실·예의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60320" y="5065776"/>
            <a:ext cx="4114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정중한 표현 · 받는 사람 입장 고려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687568"/>
            <a:ext cx="5943600" cy="548640"/>
          </a:xfrm>
          <a:prstGeom prst="roundRect">
            <a:avLst>
              <a:gd name="adj" fmla="val 1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21792" y="5806440"/>
            <a:ext cx="310896" cy="310896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" y="578815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687568"/>
            <a:ext cx="14630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형식 준수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60320" y="5687568"/>
            <a:ext cx="4114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두문-본문-결문 · 항목 기호(1. 가. 1) …)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6355080"/>
            <a:ext cx="5943600" cy="1234440"/>
          </a:xfrm>
          <a:prstGeom prst="roundRect">
            <a:avLst>
              <a:gd name="adj" fmla="val 4000"/>
            </a:avLst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6510528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2B13C"/>
                </a:solidFill>
                <a:latin typeface="맑은 고딕"/>
                <a:ea typeface="맑은 고딕"/>
                <a:cs typeface="맑은 고딕"/>
              </a:rPr>
              <a:t>항목 구분 순서 (행정업무편람)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6839712"/>
            <a:ext cx="5486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 →  가.  →  1)  →  가)  →  (1)  →  (가)  →  ①  →  ㉮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9FC7F0"/>
                </a:solidFill>
                <a:latin typeface="맑은 고딕"/>
                <a:ea typeface="맑은 고딕"/>
                <a:cs typeface="맑은 고딕"/>
              </a:rPr>
              <a:t>둘째 항목부터는 상위 항목 위치에서 1자(2타)씩 들여쓰기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형식이 신뢰를 만든다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PART 2  기본 이론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원페이지 보고서 — 한 장으로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00200"/>
            <a:ext cx="5943600" cy="1051560"/>
          </a:xfrm>
          <a:prstGeom prst="roundRect">
            <a:avLst>
              <a:gd name="adj" fmla="val 5000"/>
            </a:avLst>
          </a:prstGeom>
          <a:solidFill>
            <a:srgbClr val="FC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118872" cy="105156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왜 한 장인가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20824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바쁜 의사결정자는 ‘한 장’을 원합니다. 핵심만 구조화하면 한 장으로 충분 — 길이가 아니라 ‘구성’이 실력입니다.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61488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원페이지 기본 골격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154680"/>
            <a:ext cx="594360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7200" y="3154680"/>
            <a:ext cx="109728" cy="64008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154680"/>
            <a:ext cx="1691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제목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3154680"/>
            <a:ext cx="4114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무엇에 대한 보고인가 — 한눈에 주제 파악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67912"/>
            <a:ext cx="594360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57200" y="3867912"/>
            <a:ext cx="109728" cy="64008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867912"/>
            <a:ext cx="1691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개요 / 목적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80" y="3867912"/>
            <a:ext cx="4114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왜 이 보고를 하는가 (배경·추진 근거)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581144"/>
            <a:ext cx="594360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57200" y="4581144"/>
            <a:ext cx="109728" cy="64008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581144"/>
            <a:ext cx="1691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현황 / 문제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68880" y="4581144"/>
            <a:ext cx="4114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지금 상황은? 핵심 사실·데이터 (사실 중심)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5294376"/>
            <a:ext cx="594360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7200" y="5294376"/>
            <a:ext cx="109728" cy="64008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294376"/>
            <a:ext cx="1691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대안 / 방안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5294376"/>
            <a:ext cx="4114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어떻게 할 것인가 — 1~3개 선택지와 비교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007608"/>
            <a:ext cx="594360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57200" y="6007608"/>
            <a:ext cx="109728" cy="64008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6007608"/>
            <a:ext cx="1691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결론 / 건의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68880" y="6007608"/>
            <a:ext cx="4114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제언과 의사결정 요청 (무엇을 승인받을지)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720840"/>
            <a:ext cx="594360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57200" y="6720840"/>
            <a:ext cx="109728" cy="64008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6720840"/>
            <a:ext cx="1691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향후 일정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68880" y="6720840"/>
            <a:ext cx="4114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언제·누가·무엇을 — 실행 계획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7452360"/>
            <a:ext cx="5943600" cy="502920"/>
          </a:xfrm>
          <a:prstGeom prst="roundRect">
            <a:avLst>
              <a:gd name="adj" fmla="val 8000"/>
            </a:avLst>
          </a:prstGeom>
          <a:solidFill>
            <a:srgbClr val="FC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7452360"/>
            <a:ext cx="554126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TIP   </a:t>
            </a: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‘사실’과 ‘의견(제언)’을 칸으로 분리하면 신뢰도가 올라갑니다.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길게 쓰지 말고, 구조로 압축하라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PART 2  AI 활용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AI로 보고서 빠르게 — 4단계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5943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AI는 </a:t>
            </a:r>
            <a:r>
              <a:rPr sz="12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‘초안 작성·구조화·다듬기’</a:t>
            </a:r>
            <a:r>
              <a:rPr sz="12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를 돕습니다. ‘판단과 책임’은 나의 몫.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48840"/>
            <a:ext cx="59436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03504" y="2331720"/>
            <a:ext cx="502920" cy="502920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" y="233172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2295144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기획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61872" y="262432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목적·대상·핵심 메시지를 한 줄로 정리 (AI에게 줄 ‘재료’)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990088"/>
            <a:ext cx="5577840" cy="457200"/>
          </a:xfrm>
          <a:prstGeom prst="roundRect">
            <a:avLst>
              <a:gd name="adj" fmla="val 8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990088"/>
            <a:ext cx="5303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💬  </a:t>
            </a:r>
            <a:r>
              <a:rPr sz="9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“신입교육 만족도 개선 보고서를 쓸 거야. 대상은 팀장, 핵심은 ‘실습 비중 확대 건의’.”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657600"/>
            <a:ext cx="59436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03504" y="3840480"/>
            <a:ext cx="502920" cy="502920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" y="384048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61872" y="3803904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초안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61872" y="413308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AI에게 원페이지 구조로 초안 요청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498848"/>
            <a:ext cx="5577840" cy="457200"/>
          </a:xfrm>
          <a:prstGeom prst="roundRect">
            <a:avLst>
              <a:gd name="adj" fmla="val 8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4498848"/>
            <a:ext cx="5303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💬  </a:t>
            </a:r>
            <a:r>
              <a:rPr sz="9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“위 내용을 원페이지 보고서로. 개요·현황·개선안·건의·일정 순서로 써줘.”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166360"/>
            <a:ext cx="59436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03504" y="5349240"/>
            <a:ext cx="502920" cy="502920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534924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61872" y="5312664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61872" y="564184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사실·수치·근거를 내가 직접 확인·수정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6007608"/>
            <a:ext cx="5577840" cy="457200"/>
          </a:xfrm>
          <a:prstGeom prst="roundRect">
            <a:avLst>
              <a:gd name="adj" fmla="val 8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6384" y="6007608"/>
            <a:ext cx="5303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💬  </a:t>
            </a:r>
            <a:r>
              <a:rPr sz="9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AI가 지어낸 수치·내용이 없는지 점검 → 실제 데이터로 교체 (가장 중요!)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675120"/>
            <a:ext cx="59436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03504" y="6858000"/>
            <a:ext cx="502920" cy="502920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3504" y="685800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61872" y="6821424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다듬기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61872" y="715060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톤·길이·표현을 AI로 마무리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7516368"/>
            <a:ext cx="5577840" cy="457200"/>
          </a:xfrm>
          <a:prstGeom prst="roundRect">
            <a:avLst>
              <a:gd name="adj" fmla="val 8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6384" y="7516368"/>
            <a:ext cx="5303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💬  </a:t>
            </a:r>
            <a:r>
              <a:rPr sz="9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“더 간결하게”, “두괄식으로”, “공문체로” 등으로 마지막 손질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AI는 거들 뿐 — 판단은 사람이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PART 2  ·  팀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전지 · 매직 보고서 작성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554480"/>
            <a:ext cx="5943600" cy="1005840"/>
          </a:xfrm>
          <a:prstGeom prst="roundRect">
            <a:avLst>
              <a:gd name="adj" fmla="val 5000"/>
            </a:avLst>
          </a:prstGeom>
          <a:solidFill>
            <a:srgbClr val="FC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118872" cy="100584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82496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🎯  실습 목표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1168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스마트폰으로 AI 초안을 만들고, 조별로 </a:t>
            </a:r>
            <a:r>
              <a:rPr sz="115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전지에 매직으로 ‘원페이지 보고서’</a:t>
            </a:r>
            <a:r>
              <a:rPr sz="11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를 완성해 발표합니다.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진행 순서 (조별 · 약 40분)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145536"/>
            <a:ext cx="5943600" cy="713232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66928" y="3291840"/>
            <a:ext cx="420624" cy="420624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29184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236976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주제 선정 &amp; 기획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529584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미션카드에서 주제 선택 → 목적·대상·핵심 메시지 합의 (5분)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50208"/>
            <a:ext cx="5943600" cy="713232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4096512"/>
            <a:ext cx="420624" cy="420624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096512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041648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AI로 초안 만들기 (모바일)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334256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제미나이·노트북LM으로 구조 초안 생성 → 사실 검증 (10분)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754880"/>
            <a:ext cx="5943600" cy="713232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66928" y="4901184"/>
            <a:ext cx="420624" cy="420624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490118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4846320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전지에 옮겨 구성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5138928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원페이지 골격에 맞춰 매직으로 작성 · 도식·강조 활용 (20분)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559552"/>
            <a:ext cx="5943600" cy="713232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66928" y="5705856"/>
            <a:ext cx="420624" cy="420624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5705856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" y="5650992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조별 발표 &amp; 피드백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5943600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1분 두괄식 발표 → 상호 피드백 (5분)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446520"/>
            <a:ext cx="5943600" cy="2011680"/>
          </a:xfrm>
          <a:prstGeom prst="roundRect">
            <a:avLst>
              <a:gd name="adj" fmla="val 4000"/>
            </a:avLst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664768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2B13C"/>
                </a:solidFill>
                <a:latin typeface="맑은 고딕"/>
                <a:ea typeface="맑은 고딕"/>
                <a:cs typeface="맑은 고딕"/>
              </a:rPr>
              <a:t>🏆  평가 기준 (각 5점)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1520" y="7214616"/>
            <a:ext cx="91440" cy="45720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2688" y="7159752"/>
            <a:ext cx="24688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구성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" y="7452360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0">
                <a:solidFill>
                  <a:srgbClr val="9FC7F0"/>
                </a:solidFill>
                <a:latin typeface="맑은 고딕"/>
                <a:ea typeface="맑은 고딕"/>
                <a:cs typeface="맑은 고딕"/>
              </a:rPr>
              <a:t>원페이지 골격을 갖췄는가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11880" y="7214616"/>
            <a:ext cx="91440" cy="45720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813048" y="7159752"/>
            <a:ext cx="24688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두괄식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13048" y="7452360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0">
                <a:solidFill>
                  <a:srgbClr val="9FC7F0"/>
                </a:solidFill>
                <a:latin typeface="맑은 고딕"/>
                <a:ea typeface="맑은 고딕"/>
                <a:cs typeface="맑은 고딕"/>
              </a:rPr>
              <a:t>결론·핵심이 먼저 보이는가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1520" y="7872984"/>
            <a:ext cx="91440" cy="45720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32688" y="7818120"/>
            <a:ext cx="24688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사실성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2688" y="8110728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0">
                <a:solidFill>
                  <a:srgbClr val="9FC7F0"/>
                </a:solidFill>
                <a:latin typeface="맑은 고딕"/>
                <a:ea typeface="맑은 고딕"/>
                <a:cs typeface="맑은 고딕"/>
              </a:rPr>
              <a:t>사실/의견 구분, 근거가 있는가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611880" y="7872984"/>
            <a:ext cx="91440" cy="45720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813048" y="7818120"/>
            <a:ext cx="24688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전달력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13048" y="8110728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0">
                <a:solidFill>
                  <a:srgbClr val="9FC7F0"/>
                </a:solidFill>
                <a:latin typeface="맑은 고딕"/>
                <a:ea typeface="맑은 고딕"/>
                <a:cs typeface="맑은 고딕"/>
              </a:rPr>
              <a:t>한눈에 이해되는 시각 구성인가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손으로 쓰면, 머리에 남는다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PART 2  ·  팀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보고서 미션카드 (택 1)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조별로 미션 1개를 골라 ‘원페이지 보고서’로 설계하세요. (실제 업무 상황으로 바꿔도 OK)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331720"/>
            <a:ext cx="2880360" cy="2514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 Same Side Corner Rectangle 9"/>
          <p:cNvSpPr/>
          <p:nvPr/>
        </p:nvSpPr>
        <p:spPr>
          <a:xfrm>
            <a:off x="457200" y="2331720"/>
            <a:ext cx="2880360" cy="512064"/>
          </a:xfrm>
          <a:prstGeom prst="round2SameRect">
            <a:avLst>
              <a:gd name="adj1" fmla="val 35000"/>
              <a:gd name="adj2" fmla="val 0"/>
            </a:avLst>
          </a:prstGeom>
          <a:solidFill>
            <a:srgbClr val="FC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441448"/>
            <a:ext cx="247802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📋  MISSION A · 행사기획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081528"/>
            <a:ext cx="24780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신입사원 워크숍 개최 계획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813048"/>
            <a:ext cx="1965960" cy="36576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977640"/>
            <a:ext cx="247802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목적·프로그램·예산·일정을 한 장으로 보고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20440" y="2331720"/>
            <a:ext cx="2880360" cy="2514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3520440" y="2331720"/>
            <a:ext cx="2880360" cy="512064"/>
          </a:xfrm>
          <a:prstGeom prst="round2SameRect">
            <a:avLst>
              <a:gd name="adj1" fmla="val 35000"/>
              <a:gd name="adj2" fmla="val 0"/>
            </a:avLst>
          </a:prstGeom>
          <a:solidFill>
            <a:srgbClr val="FC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21608" y="2441448"/>
            <a:ext cx="247802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🛠️  MISSION B · 업무개선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21608" y="3081528"/>
            <a:ext cx="24780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반복 업무 자동화 제안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21608" y="3813048"/>
            <a:ext cx="1965960" cy="36576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21608" y="3977640"/>
            <a:ext cx="247802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현황 문제 → AI 활용 개선안 → 기대효과 건의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074920"/>
            <a:ext cx="2880360" cy="2514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 Same Side Corner Rectangle 21"/>
          <p:cNvSpPr/>
          <p:nvPr/>
        </p:nvSpPr>
        <p:spPr>
          <a:xfrm>
            <a:off x="457200" y="5074920"/>
            <a:ext cx="2880360" cy="512064"/>
          </a:xfrm>
          <a:prstGeom prst="round2SameRect">
            <a:avLst>
              <a:gd name="adj1" fmla="val 35000"/>
              <a:gd name="adj2" fmla="val 0"/>
            </a:avLst>
          </a:prstGeom>
          <a:solidFill>
            <a:srgbClr val="FC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5184648"/>
            <a:ext cx="247802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📊  MISSION C · 현황보고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824728"/>
            <a:ext cx="24780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교육 만족도 조사 결과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556248"/>
            <a:ext cx="1965960" cy="36576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720840"/>
            <a:ext cx="247802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설문 결과 분석 → 시사점 → 개선 방안 제시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20440" y="5074920"/>
            <a:ext cx="2880360" cy="2514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 Same Side Corner Rectangle 27"/>
          <p:cNvSpPr/>
          <p:nvPr/>
        </p:nvSpPr>
        <p:spPr>
          <a:xfrm>
            <a:off x="3520440" y="5074920"/>
            <a:ext cx="2880360" cy="512064"/>
          </a:xfrm>
          <a:prstGeom prst="round2SameRect">
            <a:avLst>
              <a:gd name="adj1" fmla="val 35000"/>
              <a:gd name="adj2" fmla="val 0"/>
            </a:avLst>
          </a:prstGeom>
          <a:solidFill>
            <a:srgbClr val="FC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21608" y="5184648"/>
            <a:ext cx="247802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⚠️  MISSION D · 상황보고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21608" y="5824728"/>
            <a:ext cx="24780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업무 지연 상황 중간보고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721608" y="6556248"/>
            <a:ext cx="1965960" cy="36576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21608" y="6720840"/>
            <a:ext cx="247802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원인·영향·대응방안을 두괄식으로 신속 보고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어떤 일이든, 보고는 한 장이면 된다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PART 2  ·  워크시트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나의 원페이지 보고서 설계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36192"/>
            <a:ext cx="5943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선택한 미션을 아래 칸에 채우며 ‘전지 옮기기 전 설계도’를 완성하세요.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20240"/>
            <a:ext cx="594360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1920240"/>
            <a:ext cx="91440" cy="77724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① 제목 / 한 줄 핵심 메시지 (가장 하고 싶은 말)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468880"/>
            <a:ext cx="548640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" y="2788920"/>
            <a:ext cx="288036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7200" y="2788920"/>
            <a:ext cx="91440" cy="118872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8648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② 목적 (Why)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15468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이 보고로 결정할 것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3337560"/>
            <a:ext cx="242316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3680460"/>
            <a:ext cx="242316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520440" y="2788920"/>
            <a:ext cx="288036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520440" y="2788920"/>
            <a:ext cx="91440" cy="118872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49040" y="2898648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③ 대상 (Who)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40" y="315468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누가 읽는가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749040" y="3337560"/>
            <a:ext cx="242316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49040" y="3680460"/>
            <a:ext cx="242316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57200" y="4069080"/>
            <a:ext cx="59436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7200" y="4069080"/>
            <a:ext cx="91440" cy="137160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17880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④ 현황 · 문제 (사실·데이터 중심)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4617720"/>
            <a:ext cx="548640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85800" y="4907280"/>
            <a:ext cx="548640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5800" y="5196840"/>
            <a:ext cx="548640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57200" y="5532120"/>
            <a:ext cx="59436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57200" y="5532120"/>
            <a:ext cx="91440" cy="137160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56418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⑤ 대안 · 방안 (어떻게 할 것인가)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5800" y="6080760"/>
            <a:ext cx="548640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85800" y="6370320"/>
            <a:ext cx="548640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85800" y="6659880"/>
            <a:ext cx="548640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57200" y="6995160"/>
            <a:ext cx="288036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57200" y="6995160"/>
            <a:ext cx="91440" cy="141732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7104888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⑥ 결론 · 건의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736092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무엇을 승인받을지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" y="7543800"/>
            <a:ext cx="242316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85800" y="7848600"/>
            <a:ext cx="242316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85800" y="8153400"/>
            <a:ext cx="242316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520440" y="6995160"/>
            <a:ext cx="288036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520440" y="6995160"/>
            <a:ext cx="91440" cy="141732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749040" y="7104888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⑦ 향후 일정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49040" y="736092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언제·누가·무엇을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749040" y="7543800"/>
            <a:ext cx="242316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749040" y="7848600"/>
            <a:ext cx="242316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749040" y="8153400"/>
            <a:ext cx="242316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457200" y="8549640"/>
            <a:ext cx="5943600" cy="502920"/>
          </a:xfrm>
          <a:prstGeom prst="roundRect">
            <a:avLst>
              <a:gd name="adj" fmla="val 8000"/>
            </a:avLst>
          </a:prstGeom>
          <a:solidFill>
            <a:srgbClr val="FC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8368" y="8549640"/>
            <a:ext cx="554126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TIP   </a:t>
            </a: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막히면 스마트폰으로 “이 칸에 들어갈 내용을 제안해줘”라고 AI에게 물어보세요.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설계가 끝나면, 전지로!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F2B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B5EA8"/>
                </a:solidFill>
                <a:latin typeface="맑은 고딕"/>
                <a:ea typeface="맑은 고딕"/>
                <a:cs typeface="맑은 고딕"/>
              </a:rPr>
              <a:t>WRAP-UP  ·  핵심 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오늘 챙겨갈 5가지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F2B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91640"/>
            <a:ext cx="59436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691640"/>
            <a:ext cx="128016" cy="960120"/>
          </a:xfrm>
          <a:prstGeom prst="roundRect">
            <a:avLst>
              <a:gd name="adj" fmla="val 50000"/>
            </a:avLst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49808" y="1938528"/>
            <a:ext cx="457200" cy="457200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9202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691640"/>
            <a:ext cx="48463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AI는 ‘도구’ — 일을 대신하는 게 아니라 더 빠르게 돕는다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743200"/>
            <a:ext cx="59436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7200" y="2743200"/>
            <a:ext cx="128016" cy="960120"/>
          </a:xfrm>
          <a:prstGeom prst="roundRect">
            <a:avLst>
              <a:gd name="adj" fmla="val 50000"/>
            </a:avLst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49808" y="2990088"/>
            <a:ext cx="457200" cy="457200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29718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2743200"/>
            <a:ext cx="48463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좋은 질문(프롬프트)이 좋은 결과를 만든다 — R·O·C·F·E·C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94760"/>
            <a:ext cx="59436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57200" y="3794760"/>
            <a:ext cx="128016" cy="96012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49808" y="4041648"/>
            <a:ext cx="457200" cy="457200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40233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3794760"/>
            <a:ext cx="48463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결과물은 ‘초안’ — 사실·수치는 반드시 내가 검증한다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846320"/>
            <a:ext cx="59436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7200" y="4846320"/>
            <a:ext cx="128016" cy="96012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49808" y="5093208"/>
            <a:ext cx="457200" cy="457200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50749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4846320"/>
            <a:ext cx="48463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보고는 두괄식 — 결론부터, 사실과 의견을 구분해서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897880"/>
            <a:ext cx="59436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57200" y="5897880"/>
            <a:ext cx="128016" cy="960120"/>
          </a:xfrm>
          <a:prstGeom prst="roundRect">
            <a:avLst>
              <a:gd name="adj" fmla="val 50000"/>
            </a:avLst>
          </a:prstGeom>
          <a:solidFill>
            <a:srgbClr val="D24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49808" y="6144768"/>
            <a:ext cx="457200" cy="457200"/>
          </a:xfrm>
          <a:prstGeom prst="ellipse">
            <a:avLst/>
          </a:prstGeom>
          <a:solidFill>
            <a:srgbClr val="D24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612648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5897880"/>
            <a:ext cx="48463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보안 최우선 — 민감·대외비 정보는 공개형 AI에 넣지 않는다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F2B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 배운 한 가지를, 내일 업무에서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201168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01168"/>
            <a:ext cx="6858000" cy="64008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206240" y="822960"/>
            <a:ext cx="3291840" cy="3291840"/>
          </a:xfrm>
          <a:prstGeom prst="ellipse">
            <a:avLst/>
          </a:prstGeom>
          <a:solidFill>
            <a:srgbClr val="16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2B13C"/>
                </a:solidFill>
                <a:latin typeface="맑은 고딕"/>
                <a:ea typeface="맑은 고딕"/>
                <a:cs typeface="맑은 고딕"/>
              </a:rPr>
              <a:t>ACTION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5852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내일부터 이렇게 써보겠습니다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468880"/>
            <a:ext cx="1005840" cy="54864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2834640"/>
            <a:ext cx="5943600" cy="1143000"/>
          </a:xfrm>
          <a:prstGeom prst="roundRect">
            <a:avLst>
              <a:gd name="adj" fmla="val 5000"/>
            </a:avLst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3017520"/>
            <a:ext cx="457200" cy="457200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0175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99923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활용 1가지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364992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9FC7F0"/>
                </a:solidFill>
                <a:latin typeface="맑은 고딕"/>
                <a:ea typeface="맑은 고딕"/>
                <a:cs typeface="맑은 고딕"/>
              </a:rPr>
              <a:t>예: 회의록 요약을 노트북LM으로 자동화한다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80160" y="3767328"/>
            <a:ext cx="4846320" cy="12700"/>
          </a:xfrm>
          <a:prstGeom prst="rect">
            <a:avLst/>
          </a:prstGeom>
          <a:solidFill>
            <a:srgbClr val="3A5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7200" y="4114800"/>
            <a:ext cx="5943600" cy="1143000"/>
          </a:xfrm>
          <a:prstGeom prst="roundRect">
            <a:avLst>
              <a:gd name="adj" fmla="val 5000"/>
            </a:avLst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4297680"/>
            <a:ext cx="457200" cy="457200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29768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27939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보고 습관 1가지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645152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9FC7F0"/>
                </a:solidFill>
                <a:latin typeface="맑은 고딕"/>
                <a:ea typeface="맑은 고딕"/>
                <a:cs typeface="맑은 고딕"/>
              </a:rPr>
              <a:t>예: 모든 보고는 결론부터 — 첫 문장에 답을 담는다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80160" y="5047488"/>
            <a:ext cx="4846320" cy="12700"/>
          </a:xfrm>
          <a:prstGeom prst="rect">
            <a:avLst/>
          </a:prstGeom>
          <a:solidFill>
            <a:srgbClr val="3A5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57200" y="5394960"/>
            <a:ext cx="5943600" cy="1143000"/>
          </a:xfrm>
          <a:prstGeom prst="roundRect">
            <a:avLst>
              <a:gd name="adj" fmla="val 5000"/>
            </a:avLst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0080" y="5577840"/>
            <a:ext cx="457200" cy="457200"/>
          </a:xfrm>
          <a:prstGeom prst="ellipse">
            <a:avLst/>
          </a:prstGeom>
          <a:solidFill>
            <a:srgbClr val="F2B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5778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555955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이번 주 실천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5925312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9FC7F0"/>
                </a:solidFill>
                <a:latin typeface="맑은 고딕"/>
                <a:ea typeface="맑은 고딕"/>
                <a:cs typeface="맑은 고딕"/>
              </a:rPr>
              <a:t>예: 다음 주간보고를 AI 초안 → 검증으로 작성해 본다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280160" y="6327648"/>
            <a:ext cx="4846320" cy="12700"/>
          </a:xfrm>
          <a:prstGeom prst="rect">
            <a:avLst/>
          </a:prstGeom>
          <a:solidFill>
            <a:srgbClr val="3A5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7772400"/>
            <a:ext cx="5943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Thank You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8458200"/>
            <a:ext cx="5943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9FC7F0"/>
                </a:solidFill>
                <a:latin typeface="맑은 고딕"/>
                <a:ea typeface="맑은 고딕"/>
                <a:cs typeface="맑은 고딕"/>
              </a:rPr>
              <a:t>오늘의 한 가지를, 내일의 첫 업무에서.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932688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6A6CC"/>
                </a:solidFill>
                <a:latin typeface="맑은 고딕"/>
                <a:ea typeface="맑은 고딕"/>
                <a:cs typeface="맑은 고딕"/>
              </a:rPr>
              <a:t>한전원자력연료  ·  2026 신입직원 입문교육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