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6858000" cy="9905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20116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6858000" cy="6400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914400"/>
            <a:ext cx="3840480" cy="3840480"/>
          </a:xfrm>
          <a:prstGeom prst="ellipse">
            <a:avLst/>
          </a:prstGeom>
          <a:solidFill>
            <a:srgbClr val="16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457200"/>
            <a:ext cx="2103120" cy="2103120"/>
          </a:xfrm>
          <a:prstGeom prst="ellipse">
            <a:avLst/>
          </a:prstGeom>
          <a:solidFill>
            <a:srgbClr val="1E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60520" y="1234440"/>
            <a:ext cx="3200400" cy="3200400"/>
          </a:xfrm>
          <a:prstGeom prst="ellipse">
            <a:avLst/>
          </a:prstGeom>
          <a:noFill/>
          <a:ln w="19050">
            <a:solidFill>
              <a:srgbClr val="12A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한전원자력연료  ·  신입직원 입문교육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생성형 AI 스마트워크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&amp; AI 활용 보고서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1097280" cy="6400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FDEF0"/>
                </a:solidFill>
                <a:latin typeface="맑은 고딕"/>
                <a:ea typeface="맑은 고딕"/>
                <a:cs typeface="맑은 고딕"/>
              </a:rPr>
              <a:t>제미나이 · 노트북LM · AI 스튜디오를 </a:t>
            </a:r>
            <a:r>
              <a:rPr sz="14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모바일</a:t>
            </a:r>
            <a:r>
              <a:rPr sz="1400" b="0">
                <a:solidFill>
                  <a:srgbClr val="CFDEF0"/>
                </a:solidFill>
                <a:latin typeface="맑은 고딕"/>
                <a:ea typeface="맑은 고딕"/>
                <a:cs typeface="맑은 고딕"/>
              </a:rPr>
              <a:t>로 익히고,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FDEF0"/>
                </a:solidFill>
                <a:latin typeface="맑은 고딕"/>
                <a:ea typeface="맑은 고딕"/>
                <a:cs typeface="맑은 고딕"/>
              </a:rPr>
              <a:t>AI로 기획부터 보고서까지 — 교재만 보고 따라 하는 실습 가이드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766560"/>
            <a:ext cx="5943600" cy="2057400"/>
          </a:xfrm>
          <a:prstGeom prst="roundRect">
            <a:avLst>
              <a:gd name="adj" fmla="val 4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995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교 육 개 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7406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일   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74066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 7. 8.(수)  13:00 ~ 18:00  (총 5H)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78181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대   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7818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신입직원 107명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822960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구   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82296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생성형 AI 스마트워크 (13~16시)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85953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AI 활용 보고서 작성 (16~18시)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4640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6A6CC"/>
                </a:solidFill>
                <a:latin typeface="맑은 고딕"/>
                <a:ea typeface="맑은 고딕"/>
                <a:cs typeface="맑은 고딕"/>
              </a:rPr>
              <a:t>KEPCO Nuclear Fuel  ·  2026 신입직원 입문교육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OVERVIEW  ·  과정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5시간의 여정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오후 한나절, </a:t>
            </a: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‘AI로 일하는 법’</a:t>
            </a: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과 </a:t>
            </a: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‘제대로 보고하는 법’</a:t>
            </a: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을 손으로 익힙니다.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5943600" cy="1280160"/>
          </a:xfrm>
          <a:prstGeom prst="roundRect">
            <a:avLst>
              <a:gd name="adj" fmla="val 6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28016" cy="128016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441448"/>
            <a:ext cx="804672" cy="804672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80467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3774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·  13:00~16:00 (3H)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6060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생성형 AI 스마트워크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3580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제미나이 · 노트북LM · AI 스튜디오를 모바일로 직접 실습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5943600" cy="1280160"/>
          </a:xfrm>
          <a:prstGeom prst="roundRect">
            <a:avLst>
              <a:gd name="adj" fmla="val 6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128016" cy="128016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3904488"/>
            <a:ext cx="804672" cy="804672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904488"/>
            <a:ext cx="80467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8404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·  16:00~18:00 (2H)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0690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 활용 보고서 작성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4988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보고의 기본·기획력 + 전지·매직으로 조별 보고서 작성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49240"/>
            <a:ext cx="5943600" cy="178308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📱  이 교재 사용법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436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강의 흐름에 맞춰 핵심을 ‘읽고’, 빈칸·워크시트에 ‘적으며’ 따라오세요.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모든 실습은 개인 스마트폰으로 진행합니다 — PC가 없어도 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528816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교재의 프롬프트 예시는 그대로 복사해 사용해도 좋습니다.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821424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오늘 만든 결과물이 곧 내일 업무에서 쓰는 ‘나의 도구’가 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7360920"/>
            <a:ext cx="5943600" cy="2011680"/>
          </a:xfrm>
          <a:prstGeom prst="roundRect">
            <a:avLst>
              <a:gd name="adj" fmla="val 4000"/>
            </a:avLst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7543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준비물 체크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800100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8156448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구글 계정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8522208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BFD2E8"/>
                </a:solidFill>
                <a:latin typeface="맑은 고딕"/>
                <a:ea typeface="맑은 고딕"/>
                <a:cs typeface="맑은 고딕"/>
              </a:rPr>
              <a:t>Gmail 로그인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BFD2E8"/>
                </a:solidFill>
                <a:latin typeface="맑은 고딕"/>
                <a:ea typeface="맑은 고딕"/>
                <a:cs typeface="맑은 고딕"/>
              </a:rPr>
              <a:t>(없으면 즉시 가입)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15184" y="800100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15184" y="8156448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크롬 / 사파리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06624" y="8522208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BFD2E8"/>
                </a:solidFill>
                <a:latin typeface="맑은 고딕"/>
                <a:ea typeface="맑은 고딕"/>
                <a:cs typeface="맑은 고딕"/>
              </a:rPr>
              <a:t>모바일 웹브라우저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17136" y="800100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8156448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필기구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8576" y="8522208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BFD2E8"/>
                </a:solidFill>
                <a:latin typeface="맑은 고딕"/>
                <a:ea typeface="맑은 고딕"/>
                <a:cs typeface="맑은 고딕"/>
              </a:rPr>
              <a:t>워크시트 작성용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20116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6858000" cy="5486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60" y="1005840"/>
            <a:ext cx="3383280" cy="3383280"/>
          </a:xfrm>
          <a:prstGeom prst="ellipse">
            <a:avLst/>
          </a:prstGeom>
          <a:solidFill>
            <a:srgbClr val="16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80560" y="594360"/>
            <a:ext cx="2377440" cy="2377440"/>
          </a:xfrm>
          <a:prstGeom prst="ellipse">
            <a:avLst/>
          </a:prstGeom>
          <a:noFill/>
          <a:ln w="19050">
            <a:solidFill>
              <a:srgbClr val="12A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·  13:00 ~ 16:00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생성형 AI 스마트워크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SMART WORK WITH GENERATIVE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22191"/>
            <a:ext cx="1005840" cy="5486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41648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FDEF0"/>
                </a:solidFill>
                <a:latin typeface="맑은 고딕"/>
                <a:ea typeface="맑은 고딕"/>
                <a:cs typeface="맑은 고딕"/>
              </a:rPr>
              <a:t>스마트폰만 있으면 누구나, 지금 바로. 세 가지 AI 도구로 업무 속도를 바꿉니다.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40680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5660136"/>
            <a:ext cx="475488" cy="475488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6601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052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제미나이 (Gemini)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95274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B7CBE3"/>
                </a:solidFill>
                <a:latin typeface="맑은 고딕"/>
                <a:ea typeface="맑은 고딕"/>
                <a:cs typeface="맑은 고딕"/>
              </a:rPr>
              <a:t>이미지·영상·문서를 만드는 만능 AI 어시스턴트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464808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6684264"/>
            <a:ext cx="475488" cy="475488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68426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629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노트북LM (NotebookLM)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9768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B7CBE3"/>
                </a:solidFill>
                <a:latin typeface="맑은 고딕"/>
                <a:ea typeface="맑은 고딕"/>
                <a:cs typeface="맑은 고딕"/>
              </a:rPr>
              <a:t>내 문서만 읽고 답하는 출처 기반 AI 분석가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7488936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7708392"/>
            <a:ext cx="475488" cy="475488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770839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7653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스튜디오 (AI Studio)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80010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B7CBE3"/>
                </a:solidFill>
                <a:latin typeface="맑은 고딕"/>
                <a:ea typeface="맑은 고딕"/>
                <a:cs typeface="맑은 고딕"/>
              </a:rPr>
              <a:t>코딩 없이 챗봇·앱을 만드는 AI 개발 도구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제미나이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제미나이란? &amp; 모바일 시작하기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943600" cy="1024128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8872" cy="1024128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한 줄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구글이 만든 AI 어시스턴트. 말이나 글로 요청하면 이미지·문서·번역·요약까지 만들어 줘요. 구글 계정만 있으면 무료!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4가지 핵심 기능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72968"/>
            <a:ext cx="1403604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4036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31336"/>
            <a:ext cx="14036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이미지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05656"/>
            <a:ext cx="13121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아이디어 스케치·시각자료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70532" y="3172968"/>
            <a:ext cx="1403604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70532" y="3337560"/>
            <a:ext cx="14036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0532" y="3831336"/>
            <a:ext cx="14036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영상·음악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6252" y="4105656"/>
            <a:ext cx="13121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홍보 스크립트·사내방송 기획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83864" y="3172968"/>
            <a:ext cx="1403604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3864" y="3337560"/>
            <a:ext cx="14036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3831336"/>
            <a:ext cx="14036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캔버스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4105656"/>
            <a:ext cx="13121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기획서·보고서·번역 전용 공간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7196" y="3172968"/>
            <a:ext cx="1403604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7196" y="3337560"/>
            <a:ext cx="14036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7196" y="3831336"/>
            <a:ext cx="14036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대화·요약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2916" y="4105656"/>
            <a:ext cx="13121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자료 요약·아이디어 정리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7316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모바일로 시작하기 — 3단계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75504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6928" y="5321808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32180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26694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크롬·사파리에서 gemini.google.com 접속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55955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주소창에 직접 입력하거나 ‘제미나이’ 검색 → 첫 번째 링크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80176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928" y="6126480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1264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07161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구글 계정으로 로그인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636422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회사 계정 말고 개인 구글 계정 권장 · 별도 앱 설치 불필요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784848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6928" y="6931152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93115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687628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대화창에 한국어로 요청 입력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16889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“○○ 보고서 초안 써줘”처럼 말하듯 입력하면 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818120"/>
            <a:ext cx="5943600" cy="59436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7818120"/>
            <a:ext cx="554126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안드로이드는 ‘Gemini 앱’, 아이폰은 ‘구글 앱’ 안에서도 바로 쓸 수 있어요.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말로 요청하면, AI가 일을 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제미나이  |  기능 ①  이미지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이미지로 아이디어를 빠르게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사용법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대화창에 내용을 설명한 뒤 ‘이미지 만들기’ — 또는 “위 내용을 포스터로 그려줘”라고 직접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288036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29514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295144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76856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교육·홍보자료 시각화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2496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신입 안전교육 카드뉴스, 사내 캠페인 포스터 등 발표·게시용 이미지를 몇 초 만에 시안으로 받아볼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32504"/>
            <a:ext cx="2551176" cy="73152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105656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프롬프트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315968"/>
            <a:ext cx="23134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“원자력연료 품질의 중요성을 알리는 사내 안전 캠페인 포스터를 깔끔하고 신뢰감 있는 분위기로 그려줘.”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2148840"/>
            <a:ext cx="288036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85032" y="229514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2295144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276856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개념·공정 시각화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697480"/>
            <a:ext cx="2496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글로만 된 설명을 보완하는 다이어그램·삽화 아이디어를 얻어 발표자료와 교육자료의 이해도를 높일 수 있어요.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5032" y="4032504"/>
            <a:ext cx="2551176" cy="73152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3048" y="4105656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프롬프트 예시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8" y="4315968"/>
            <a:ext cx="23134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“핵연료 집합체의 기본 구조를 신입사원도 이해하기 쉽게 단순한 다이어그램 스타일로 그려줘. 레이블 포함.”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6636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이미지 만들기 — 3단계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68696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5715000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7150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66013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주제·분위기·용도를 구체적으로 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95274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“교육용 삽화”, “홍보 포스터”처럼 용도까지 적으면 결과가 좋아요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373368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6928" y="6519672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5196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646480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‘이미지 만들기’ 버튼 또는 직접 요청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675741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“위 내용을 이미지로 그려줘” / “포스터 스타일로”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7178040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928" y="7324344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73243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26948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결과 확인 후 수정 요청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56208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“더 밝게”, “가로 배치로” 처럼 추가로 다듬기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8183879"/>
            <a:ext cx="5943600" cy="50292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8183879"/>
            <a:ext cx="55412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사진 속 부품·도표를 올리고 “이게 뭔지 설명해줘”처럼 이미지로 질문도 할 수 있어요.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찾지 말고, 만들어서 쓰세요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제미나이  |  기능 ②  영상·음악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영상 스크립트 &amp; 사내방송 기획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88036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74650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746504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28216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홍보·교육 영상 스크립트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2496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사내 SNS·유튜브용 짧은 영상의 기획안과 대본을 순식간에 작성해 줘요. 촬영 전 구성을 빠르게 잡을 수 있어요.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483864"/>
            <a:ext cx="2551176" cy="73152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7016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프롬프트 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767328"/>
            <a:ext cx="23134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“신입사원이 소개하는 ‘우리 회사 1분 영상’ 쇼츠 스크립트를 써줘. 밝고 친근한 톤, 자막 문구 포함.”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600200"/>
            <a:ext cx="288036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85032" y="174650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1746504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728216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행사·캠페인 음악 기획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148840"/>
            <a:ext cx="2496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체육대회·안전주간 등 사내 행사 BGM 분위기와 응원가 가사 아이디어를 제안받아 기획 시간을 줄일 수 있어요.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5032" y="3483864"/>
            <a:ext cx="2551176" cy="73152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3557016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프롬프트 예시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3767328"/>
            <a:ext cx="23134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“전사 안전주간 캠페인에 어울리는 경쾌한 응원가 가사를 써줘. 후렴 반복, 안전 메시지 포함.”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26280"/>
            <a:ext cx="594360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69087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90872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4672584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긴 영상·회의 자료 빠른 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056632"/>
            <a:ext cx="5541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길이가 긴 교육 영상이나 세미나 자막의 핵심을 텍스트로 요약받아, 보고·전파 자료로 바로 활용할 수 있어요.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32120"/>
            <a:ext cx="5577840" cy="41148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32120"/>
            <a:ext cx="5394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“이 영상(자막)의 핵심을 5가지 요점과 키워드로 정리해줘.”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355080"/>
            <a:ext cx="5943600" cy="50292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55412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가사·대본은 먼저 ‘초안’을 만들고 “더 짧게/더 신나게”처럼 다듬으면 품질이 올라가요.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7040880"/>
            <a:ext cx="5943600" cy="2148840"/>
          </a:xfrm>
          <a:prstGeom prst="roundRect">
            <a:avLst>
              <a:gd name="adj" fmla="val 4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7040880"/>
            <a:ext cx="118872" cy="2148840"/>
          </a:xfrm>
          <a:prstGeom prst="roundRect">
            <a:avLst>
              <a:gd name="adj" fmla="val 50000"/>
            </a:avLst>
          </a:prstGeom>
          <a:solidFill>
            <a:srgbClr val="D2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7223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24B3E"/>
                </a:solidFill>
                <a:latin typeface="맑은 고딕"/>
                <a:ea typeface="맑은 고딕"/>
                <a:cs typeface="맑은 고딕"/>
              </a:rPr>
              <a:t>🔒  보안 — 꼭 지켜주세요 (원자력 업종 특성)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76078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24B3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대외비·보안자료, 미공개 기술자료, 개인정보는 공개형 AI에 입력하지 않습니다.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79735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24B3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민감 정보는 ‘일반화된 예시’로 바꿔 질문하세요. (실제 수치·도면 제외)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83393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24B3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AI 결과물은 ‘초안’입니다 — 사실관계·기술 내용은 반드시 담당자·전문가가 검증.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87050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24B3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회사 보안지침과 정보보호 규정을 항상 우선 적용합니다.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민감정보는 빼고, 결과는 검증하고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제미나이  |  기능 ③  캔버스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캔버스 — 기획서 · 보고서 작성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943600" cy="1024128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8872" cy="1024128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캔버스란?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대화창 옆에 열리는 ‘문서 편집 공간’. 긴 글을 쓰고 단락별로 다듬는 문서 전용 작업실로, 기획·보고 업무에 특히 유용해요.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6148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캔버스 시작하기 — 3단계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63824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3310128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3101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5526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대화창에 문서 작성 요청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4787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“○○ 교육 운영 기획서 초안 써줘”처럼 종류·목적을 구체적으로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68496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4114800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1148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5993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캔버스 창에서 초안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5254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제미나이가 문서를 옆 창에 작성 — 단락별로 검토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73168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4919472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9194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6460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단락 선택 후 수정 지시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15721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고칠 부분을 드래그 → “더 구체적으로” / “3줄로 줄여줘”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692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이렇게 활용하세요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53328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61630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기획서·보고서 작성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64465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교육·행사 기획서, 업무 보고서의 뼈대를 잡고 살을 붙여 완성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858000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858000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🎚️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696772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글의 톤 바꾸기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72511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딱딱한 보고서 → 쉬운 안내문 / 일반 글 → 격식 있는 공문체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7662672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7662672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777240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다국어 번역·감수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805586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해외 협력사 메일·문서를 영문으로 번역하고 자연스럽게 감수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8513064"/>
            <a:ext cx="5943600" cy="502920"/>
          </a:xfrm>
          <a:prstGeom prst="roundRect">
            <a:avLst>
              <a:gd name="adj" fmla="val 8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8513064"/>
            <a:ext cx="55412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캔버스로 만든 보고서는 PART 2(보고서 작성)에서 그대로 이어서 활용합니다.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AI로 ‘빈 화면의 공포’를 없앤다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제미나이  |  기능 ③  캔버스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제미나이로 웹앱·게임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943600" cy="109728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8872" cy="109728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코딩이 필요 없어요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제미나이에게 “○○ 앱 만들어줘”라고 하면 캔버스에서 실제 작동하는 웹앱을 만들어 줘요. 만든 앱은 링크로 바로 공유 — 모바일에서도 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이런 앱을 만들 수 있어요 — 간단한 것부터 업무용까지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46120"/>
            <a:ext cx="2880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538728"/>
            <a:ext cx="566928" cy="566928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83864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점심 내기 게임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849624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오늘 누가 쏠까? 룰렛·사다리 게임으로 결정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246120"/>
            <a:ext cx="2880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3320" y="3538728"/>
            <a:ext cx="566928" cy="566928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83864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커피 취합 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849624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팀원 음료 주문을 한 번에 모아 자동 집계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82312"/>
            <a:ext cx="2880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5074920"/>
            <a:ext cx="566928" cy="566928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566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🗳️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20056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즉석 투표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385816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회식 메뉴·날짜를 실시간 투표로 결정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4782312"/>
            <a:ext cx="2880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03320" y="5074920"/>
            <a:ext cx="566928" cy="566928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50566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020056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준비물 체크앱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385816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출장·교육 준비물 체크리스트 공유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318504"/>
            <a:ext cx="2880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" y="6611112"/>
            <a:ext cx="566928" cy="566928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5928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6556248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업무 계산기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6922008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출장비·근무시간·단위 환산 자동 계산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0440" y="6318504"/>
            <a:ext cx="2880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03320" y="6611112"/>
            <a:ext cx="566928" cy="566928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65928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6556248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미니 설문폼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6922008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행사 만족도·의견을 모아 결과 자동 집계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7946136"/>
            <a:ext cx="5943600" cy="713232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7946136"/>
            <a:ext cx="554126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만드는 법: ① 원하는 앱을 구체적으로 설명 → ② 미리보기에서 눌러보고 “○○ 바꿔줘”로 수정 → ③ 링크로 공유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아이디어만 있으면, 앱이 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제미나이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프롬프트 6원칙  R·O·C·F·E·C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좋은 질문이 좋은 결과를 만듭니다. </a:t>
            </a: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이 6가지만 챙기면 결과 품질이 확 올라가요.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59436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238658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3682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68296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368296"/>
            <a:ext cx="3840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“너는 원자력연료 회사의 교육 담당자야”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59436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30098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2826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82696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82696"/>
            <a:ext cx="3840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“신입 안전교육 기획안을 작성하고 싶어”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59436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" y="421538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41970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97096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맥락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97096"/>
            <a:ext cx="3840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“대상은 신입 107명, 장소는 사내 강당, 2시간 분량”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83480"/>
            <a:ext cx="59436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" y="512978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51114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111496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형식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111496"/>
            <a:ext cx="3840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“A4 1장, 목차·진행순서·준비물 항목 포함”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59436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3504" y="604418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60258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6025896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예시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6025896"/>
            <a:ext cx="3840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“이런 형식(링크/사진)을 참고해서 만들어줘”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812280"/>
            <a:ext cx="59436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3504" y="695858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C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" y="69402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6940296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6940296"/>
            <a:ext cx="3840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“전문 용어는 쉽게 풀어서, 한국어로만”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7744968"/>
            <a:ext cx="5943600" cy="50292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7744968"/>
            <a:ext cx="55412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여섯 개를 한 문장에 다 넣을 필요는 없어요. 결과가 아쉬울 때 빠진 항목을 추가해 보세요.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막연하게 묻지 말고, 구체적으로 시켜라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·  모바일 실습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제미나이로 직접 해보기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55412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📱  스마트폰으로 gemini.google.com 접속 → 아래 미션을 순서대로 수행하고 결과를 메모하세요.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594360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MISSION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23744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나를 소개하는 이미지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44368"/>
            <a:ext cx="5577840" cy="5029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944368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“신입사원인 나를 표현하는 밝고 전문적인 캐릭터 이미지를 그려줘.”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75888"/>
            <a:ext cx="594360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MISSION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22192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업무 메일 톤 바꾸기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42816"/>
            <a:ext cx="5577840" cy="5029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24281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아무 메일 문장을 붙여넣고 “정중한 비즈니스 말투로 다시 써줘.”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74336"/>
            <a:ext cx="594360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1389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38928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MISSION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12064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6원칙으로 기획안 요청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41264"/>
            <a:ext cx="5577840" cy="5029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541264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R·O·C·F·E·C를 넣어 “신입 워크숍 기획안”을 요청해보기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345936"/>
            <a:ext cx="59436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6345936"/>
            <a:ext cx="91440" cy="233172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✍️  가장 쓸모 있었던 결과 &amp; 내 업무에 적용할 아이디어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894576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7260336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7626096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7991856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8357616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써본 사람만 안다 — 일단 해보기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노트북LM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노트북LM이란? &amp; 모바일 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943600" cy="109728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8872" cy="109728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한 줄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내가 올린 문서(PDF·웹·유튜브 등)만 참고해 답하는 AI. 지어내기(할루시네이션)가 거의 없고, 답변마다 출처 페이지를 알려줘요.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0720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왜 업무에 좋은가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188976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46704"/>
            <a:ext cx="188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03904"/>
            <a:ext cx="188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출처 기반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078224"/>
            <a:ext cx="17434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답변마다 근거 페이지 표시 — 신뢰도 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4120" y="3200400"/>
            <a:ext cx="188976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4120" y="3346704"/>
            <a:ext cx="188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4120" y="3803904"/>
            <a:ext cx="188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내 자료만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57272" y="4078224"/>
            <a:ext cx="17434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공개 웹이 아닌 ‘내가 올린 자료’ 안에서만 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11040" y="3200400"/>
            <a:ext cx="188976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1040" y="3346704"/>
            <a:ext cx="188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1040" y="3803904"/>
            <a:ext cx="188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요약·검색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4192" y="4078224"/>
            <a:ext cx="17434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수백 페이지를 몇 초 만에 핵심 정리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모바일로 시작하기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57216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5303520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303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24865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notebooklm.google.com 접속 · 로그인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54126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구글 계정으로 바로 시작 — 완전 무료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61888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6928" y="6108192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1081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605332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‘+ 새 노트북’ 만들고 자료 추가(Sources)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634593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PDF·구글문서·웹 URL·텍스트 붙여넣기 모두 가능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766560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928" y="6912864"/>
            <a:ext cx="420624" cy="42062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9128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68580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인덱싱(1~3분) 후 질문 시작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15060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자연어로 질문하면 ‘출처 번호’가 붙은 답변이 나와요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7452360"/>
            <a:ext cx="5943600" cy="50292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7452360"/>
            <a:ext cx="55412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주제별로 노트북을 나눠 만드세요. 예: ‘신입교육’, ‘사내규정’, ‘안전매뉴얼’.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문서가 곧 나만의 AI 비서가 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노트북LM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이렇게 활용해요 — 6가지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규정·매뉴얼·보고서를 올려두고, 묻고 만들어 쓰세요.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0370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87752"/>
            <a:ext cx="457200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185416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자료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6090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긴 규정집·기술보고서의 핵심을 즉시 요약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05740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20370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587752"/>
            <a:ext cx="457200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185416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문서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266090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구버전 vs 신버전, 차이점을 표로 정리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9184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3814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22192"/>
            <a:ext cx="457200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419856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출처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89534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“관련 조항·페이지 찾아줘” 정확히 응답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329184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43814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3822192"/>
            <a:ext cx="457200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419856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슬라이드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389534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올린 자료로 발표용 슬라이드 초안 자동 작성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2628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7258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056632"/>
            <a:ext cx="457200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654296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오디오 요약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12978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문서를 팟캐스트형 음성 대화로 변환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40" y="452628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67258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5056632"/>
            <a:ext cx="457200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4654296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퀴즈·학습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1608" y="512978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핵심용어·OX퀴즈 등 교육자료 자동 생성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06440"/>
            <a:ext cx="5943600" cy="1417320"/>
          </a:xfrm>
          <a:prstGeom prst="roundRect">
            <a:avLst>
              <a:gd name="adj" fmla="val 4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710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💼  업무 적용 예시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6336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사내 규정집을 올려두고 “출장비 지급 기준 조항을 원문으로 찾아줘”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66111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여러 회의록을 올려 “이번 분기 주요 결정사항만 요약해줘”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68854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교육자료를 올려 “신입용 OX 퀴즈 10문제와 정답·해설 만들어줘”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지어내지 않는다, 출처를 보여준다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노트북LM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바로 쓰는 실전 프롬프트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자료를 올린 뒤, 그대로 복사해서 질문해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5943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1051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57400"/>
            <a:ext cx="4526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 문서의 핵심 내용을 5가지로 정리하고, 각각의 근거 페이지 번호도 알려줘.”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5943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1051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108960"/>
            <a:ext cx="4526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“올린 두 보고서에서 ‘예산’과 ‘일정’ 부분을 비교해 차이점을 표로 만들어줘.”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60520"/>
            <a:ext cx="5943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1051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60520"/>
            <a:ext cx="4526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 규정집에서 ‘초과근무 수당 지급 기준’ 관련 조항을 정확한 원문으로 발췌해줘.”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80"/>
            <a:ext cx="5943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521208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1051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퀴즈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212080"/>
            <a:ext cx="4526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 교육자료로 신입사원용 OX 퀴즈 10문제와 정답·해설을 만들어줘.”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263640"/>
            <a:ext cx="5943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626364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051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발표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6263640"/>
            <a:ext cx="4526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 보고서를 임원 보고용 5분 발표자료로 요약하고, 예상 질문 5개도 준비해줘.”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7315200"/>
            <a:ext cx="5943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731520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7315200"/>
            <a:ext cx="1051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오디오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7315200"/>
            <a:ext cx="4526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 안내자료를 5분 분량의 음성 가이드 스크립트로 바꿔줘.”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좋은 질문 한 줄이 1시간을 아낀다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·  모바일 실습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노트북LM으로 직접 해보기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943600" cy="777240"/>
          </a:xfrm>
          <a:prstGeom prst="roundRect">
            <a:avLst>
              <a:gd name="adj" fmla="val 6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554126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📱  notebooklm.google.com 접속 → 새 노트북 생성 → 강사가 제공하는(또는 임의의) PDF·웹 자료 1개를 올리고 아래 미션 수행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5943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67919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791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MISSION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60904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핵심 5줄 요약 받기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5577840" cy="5029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63240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“이 자료의 핵심을 5가지로, 출처 페이지와 함께 정리해줘.”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5943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95935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5935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MISSION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41064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출처 기반 질문하기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43400"/>
            <a:ext cx="5577840" cy="5029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43400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자료 내용 중 궁금한 점을 묻고 ‘출처 번호’를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74920"/>
            <a:ext cx="5943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2395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951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MISSION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221224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퀴즈 or 슬라이드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5577840" cy="5029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623560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“OX 퀴즈 5문제” 또는 “발표 슬라이드 초안” 만들기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400800"/>
            <a:ext cx="59436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6400800"/>
            <a:ext cx="91440" cy="224028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✍️  노트북LM을 어떤 업무 자료에 써보고 싶나요?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94944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738378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781812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825246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검색하지 말고, 내 자료에게 물어보라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제미나이 · 노트북LM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딥리서치 — 깊이 있는 자료조사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‘밖의 정보’는 </a:t>
            </a: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제미나이 딥리서치</a:t>
            </a: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로, ‘내 자료’는 </a:t>
            </a:r>
            <a:r>
              <a:rPr sz="12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노트북LM</a:t>
            </a: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으로 깊게 파헤칩니다.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288036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457200" y="2103120"/>
            <a:ext cx="2880360" cy="457200"/>
          </a:xfrm>
          <a:prstGeom prst="round2SameRect">
            <a:avLst>
              <a:gd name="adj1" fmla="val 35000"/>
              <a:gd name="adj2" fmla="val 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12264"/>
            <a:ext cx="2514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🌐  제미나이 딥리서치 (외부·웹)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무엇인가요?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2"/>
            <a:ext cx="2514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주제 하나를 주면 AI가 수십~수백 개 웹사이트를 스스로 조사·교차검증해, 출처가 달린 종합 보고서를 자동으로 작성해 줘요.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6849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이렇게 써요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88536"/>
            <a:ext cx="237744" cy="23774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237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61104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제미나이에서 ‘Deep Research’ 선택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636008"/>
            <a:ext cx="237744" cy="23774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237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08576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조사할 주제를 구체적으로 입력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83480"/>
            <a:ext cx="237744" cy="23774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65192"/>
            <a:ext cx="237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56048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AI가 짠 ‘조사 계획’ 확인·수정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330952"/>
            <a:ext cx="237744" cy="237744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12664"/>
            <a:ext cx="237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0352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몇 분 뒤, 출처 포함 보고서 완성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2103120"/>
            <a:ext cx="288036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3520440" y="2103120"/>
            <a:ext cx="2880360" cy="457200"/>
          </a:xfrm>
          <a:prstGeom prst="round2SameRect">
            <a:avLst>
              <a:gd name="adj1" fmla="val 35000"/>
              <a:gd name="adj2" fmla="val 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2112264"/>
            <a:ext cx="2514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📁  노트북LM (내부·내 자료)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26517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무엇인가요?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2907792"/>
            <a:ext cx="2514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내가 올린 자료(규정·보고서·논문) 안에서만 교차분석·요약해 줘요. 답변마다 출처 페이지가 표시돼 신뢰도가 높아요.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96849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이렇게 써요</a:t>
            </a:r>
          </a:p>
        </p:txBody>
      </p:sp>
      <p:sp>
        <p:nvSpPr>
          <p:cNvPr id="33" name="Oval 32"/>
          <p:cNvSpPr/>
          <p:nvPr/>
        </p:nvSpPr>
        <p:spPr>
          <a:xfrm>
            <a:off x="3703320" y="4288536"/>
            <a:ext cx="237744" cy="237744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270248"/>
            <a:ext cx="237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261104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노트북LM에 자료(소스) 업로드</a:t>
            </a:r>
          </a:p>
        </p:txBody>
      </p:sp>
      <p:sp>
        <p:nvSpPr>
          <p:cNvPr id="36" name="Oval 35"/>
          <p:cNvSpPr/>
          <p:nvPr/>
        </p:nvSpPr>
        <p:spPr>
          <a:xfrm>
            <a:off x="3703320" y="4636008"/>
            <a:ext cx="237744" cy="237744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4617720"/>
            <a:ext cx="237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608576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자연어로 깊이 있게 질문</a:t>
            </a:r>
          </a:p>
        </p:txBody>
      </p:sp>
      <p:sp>
        <p:nvSpPr>
          <p:cNvPr id="39" name="Oval 38"/>
          <p:cNvSpPr/>
          <p:nvPr/>
        </p:nvSpPr>
        <p:spPr>
          <a:xfrm>
            <a:off x="3703320" y="4983480"/>
            <a:ext cx="237744" cy="237744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4965192"/>
            <a:ext cx="237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4956048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‘노트북 가이드’로 요약·마인드맵</a:t>
            </a:r>
          </a:p>
        </p:txBody>
      </p:sp>
      <p:sp>
        <p:nvSpPr>
          <p:cNvPr id="42" name="Oval 41"/>
          <p:cNvSpPr/>
          <p:nvPr/>
        </p:nvSpPr>
        <p:spPr>
          <a:xfrm>
            <a:off x="3703320" y="5330952"/>
            <a:ext cx="237744" cy="237744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5312664"/>
            <a:ext cx="237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530352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출처 번호로 원문 즉시 확인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97880"/>
            <a:ext cx="5943600" cy="2743200"/>
          </a:xfrm>
          <a:prstGeom prst="roundRect">
            <a:avLst>
              <a:gd name="adj" fmla="val 3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0624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💼  한전원자력연료 신입사원, 이렇게 활용하세요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제미나이 딥리서치 (밖을 본다)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673912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원자력·에너지 산업 최신 기술·정책 동향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702259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해외 원전연료 시장·경쟁사 동향 조사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730605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신규 과제 사전조사·배경자료 초안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118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노트북LM (안을 본다)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30168" y="6739128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사내 규정·매뉴얼·절차서 심층 분석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30168" y="702259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과거 보고서·회의록 모아 핵심 정리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7306056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교육·기술자료로 학습 가이드 제작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7680960"/>
            <a:ext cx="53949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7799832"/>
            <a:ext cx="5394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D24B3E"/>
                </a:solidFill>
                <a:latin typeface="맑은 고딕"/>
                <a:ea typeface="맑은 고딕"/>
                <a:cs typeface="맑은 고딕"/>
              </a:rPr>
              <a:t>🔒  결과는 </a:t>
            </a:r>
            <a:r>
              <a:rPr sz="980" b="1">
                <a:solidFill>
                  <a:srgbClr val="D24B3E"/>
                </a:solidFill>
                <a:latin typeface="맑은 고딕"/>
                <a:ea typeface="맑은 고딕"/>
                <a:cs typeface="맑은 고딕"/>
              </a:rPr>
              <a:t>출처를 반드시 확인</a:t>
            </a:r>
            <a:r>
              <a:rPr sz="98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하고, 대외비·보안자료는 공개형 AI에 입력하지 않습니다.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넓게는 제미나이, 깊게는 노트북LM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AI 스튜디오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 스튜디오란? &amp; 활용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943600" cy="109728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8872" cy="109728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한 줄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구글의 최신 AI로 맞춤형 챗봇·웹앱을 만드는 개발 플랫폼. 코딩 없이 ‘말로 설명’하면 완성돼요. (aistudio.google.com · 무료)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0720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핵심 기능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1403604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64992"/>
            <a:ext cx="13121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대용량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730752"/>
            <a:ext cx="1257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수천 페이지 자료를 한 번에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70532" y="3200400"/>
            <a:ext cx="1403604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6252" y="3364992"/>
            <a:ext cx="13121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멀티모달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3684" y="3730752"/>
            <a:ext cx="1257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이미지·영상·음성 동시 처리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3864" y="3200400"/>
            <a:ext cx="1403604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3364992"/>
            <a:ext cx="13121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챗봇 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3730752"/>
            <a:ext cx="1257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우리 회사 전용 AI 챗봇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7196" y="3200400"/>
            <a:ext cx="1403604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2916" y="3364992"/>
            <a:ext cx="13121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업무 연동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0348" y="3730752"/>
            <a:ext cx="1257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Drive·Sheets 자동화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5943600" cy="96012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480560"/>
            <a:ext cx="640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608576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맞춤형 챗봇 만들기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90118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‘사내 규정 안내봇’, ‘신입 온보딩 도우미’처럼 성격을 정해 코딩 없이 챗봇 제작 — 사내 게시판·키오스크에 연결 가능.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532120"/>
            <a:ext cx="5943600" cy="96012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532120"/>
            <a:ext cx="640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660136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업무 데이터 자동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95274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구글 시트의 설문·현황 데이터를 AI가 읽고 분석·요약 — 매월 수작업하던 정리를 자동화.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583680"/>
            <a:ext cx="5943600" cy="96012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6583680"/>
            <a:ext cx="640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🗂️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6711696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대규모 자료 교차 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700430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수백 페이지 규정·매뉴얼을 한 번에 올려 필요한 조항을 즉시 검색·정리.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7635240"/>
            <a:ext cx="5943600" cy="50292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7635240"/>
            <a:ext cx="55412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심화 도구예요. 오늘은 ‘이런 게 가능하구나’ 감만 잡고, 관심 있으면 차차 익혀보세요.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코딩 없이, 말로 만드는 나만의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정리 &amp; 실습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9436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" y="1801368"/>
            <a:ext cx="640080" cy="64008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783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64792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제미나이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1226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이미지·영상·캔버스로 콘텐츠와 문서를 빠르게 / 프롬프트 6원칙으로 품질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59436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" y="2944368"/>
            <a:ext cx="640080" cy="64008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907792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노트북LM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5526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내 문서만 참고 — 지어내기 최소, 출처 자동 / 요약·비교·퀴즈·슬라이드까지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6200"/>
            <a:ext cx="59436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1792" y="4087368"/>
            <a:ext cx="640080" cy="64008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069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050792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 스튜디오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9826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대용량 분석·맞춤 챗봇·업무 자동화 (코딩 불필요)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오늘의 실습 체크리스트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86400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" y="5586984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2A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557784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486400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제미나이에 로그인하고, 이미지 1장을 만들어 봤다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16752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6117336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2A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610819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6016752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프롬프트 6원칙(R·O·C·F·E·C)으로 요청해 봤다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547104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3504" y="6647688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2A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663854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6547104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노트북LM에 자료를 올리고, 출처가 붙은 답을 받아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7077456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3504" y="717804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2A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" y="7168896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7077456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노트북LM으로 요약 또는 퀴즈를 만들어 봤다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7607808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" y="7708392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2A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" y="7699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7607808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보안 수칙(민감정보 미입력)을 이해했다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도구는 익혔다 — 이제 ‘보고’로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20116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6858000" cy="5486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60" y="1005840"/>
            <a:ext cx="3383280" cy="3383280"/>
          </a:xfrm>
          <a:prstGeom prst="ellipse">
            <a:avLst/>
          </a:prstGeom>
          <a:solidFill>
            <a:srgbClr val="16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80560" y="594360"/>
            <a:ext cx="2377440" cy="2377440"/>
          </a:xfrm>
          <a:prstGeom prst="ellipse">
            <a:avLst/>
          </a:prstGeom>
          <a:noFill/>
          <a:ln w="1905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·  16:00 ~ 18:00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활용 보고서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REPORT WRITING WITH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22191"/>
            <a:ext cx="100584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41648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FDEF0"/>
                </a:solidFill>
                <a:latin typeface="맑은 고딕"/>
                <a:ea typeface="맑은 고딕"/>
                <a:cs typeface="맑은 고딕"/>
              </a:rPr>
              <a:t>기본기(기획력·보고 원칙)를 다지고, AI와 손(전지·매직)으로 ‘한 장 보고서’를 완성합니다.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40680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5660136"/>
            <a:ext cx="475488" cy="475488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6601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052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보고의 기본 &amp; 기획력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95274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B7CBE3"/>
                </a:solidFill>
                <a:latin typeface="맑은 고딕"/>
                <a:ea typeface="맑은 고딕"/>
                <a:cs typeface="맑은 고딕"/>
              </a:rPr>
              <a:t>왜·무엇을·어떻게 — 보고의 원칙과 두괄식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464808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6684264"/>
            <a:ext cx="475488" cy="475488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68426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629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공문서 · 원페이지 보고서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9768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B7CBE3"/>
                </a:solidFill>
                <a:latin typeface="맑은 고딕"/>
                <a:ea typeface="맑은 고딕"/>
                <a:cs typeface="맑은 고딕"/>
              </a:rPr>
              <a:t>행정업무편람 기반 작성법과 한 장 보고 구조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7488936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7708392"/>
            <a:ext cx="475488" cy="475488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770839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7653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활용 + 전지·매직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80010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B7CBE3"/>
                </a:solidFill>
                <a:latin typeface="맑은 고딕"/>
                <a:ea typeface="맑은 고딕"/>
                <a:cs typeface="맑은 고딕"/>
              </a:rPr>
              <a:t>AI로 초안 → 조별 전지에 매직으로 완성·발표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보고의 기본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왜, 보고인가?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27632"/>
            <a:ext cx="5943600" cy="1188720"/>
          </a:xfrm>
          <a:prstGeom prst="roundRect">
            <a:avLst>
              <a:gd name="adj" fmla="val 5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27632"/>
            <a:ext cx="118872" cy="118872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6479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보고란 무엇인가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4825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보고는 ‘다 끝낸 뒤 완벽하게 하는 것’이 아니라, 내 일의 상황을 상사와 ‘동기화’해 제때 판단을 돕는 행위입니다.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72384"/>
            <a:ext cx="2880360" cy="1965960"/>
          </a:xfrm>
          <a:prstGeom prst="roundRect">
            <a:avLst>
              <a:gd name="adj" fmla="val 5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255264"/>
            <a:ext cx="24780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24B3E"/>
                </a:solidFill>
                <a:latin typeface="맑은 고딕"/>
                <a:ea typeface="맑은 고딕"/>
                <a:cs typeface="맑은 고딕"/>
              </a:rPr>
              <a:t>❌  흔한 오해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12464"/>
            <a:ext cx="24780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“다 끝내고 완벽하게 보고해야지.”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→ 그 사이 상사는 깜깜이. 불안이 쌓이고, 문제는 손쓸 수 없을 때 드러난다.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072384"/>
            <a:ext cx="2880360" cy="196596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3255264"/>
            <a:ext cx="24780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⭕  진짜 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712464"/>
            <a:ext cx="24780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상황을 상사와 ‘공유’하는 것.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→ 불안을 덜어주고 의사결정을 돕는다. 신입이 가장 빨리 신뢰를 얻는 방법.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58384"/>
            <a:ext cx="5943600" cy="27432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595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💡  보고의 출발점은 ‘기획력’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좋은 보고서는 ‘쓰기’ 전에 ‘생각’에서 결정됩니다. 쓰기 전 3가지를 먼저 정하세요.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528816"/>
            <a:ext cx="539496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528816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Why  목적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6528816"/>
            <a:ext cx="37490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이 보고로 무엇을 결정하게 할 것인가?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7031736"/>
            <a:ext cx="539496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7031736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Who  대상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7031736"/>
            <a:ext cx="37490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누가 읽는가? 그가 궁금한 것은 무엇인가?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7534656"/>
            <a:ext cx="539496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7534656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What  핵심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7534656"/>
            <a:ext cx="37490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한 문장으로 줄이면? = 가장 하고 싶은 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작은 보고가 쌓여 ‘신뢰’가 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보고의 기본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좋은 보고의 3원칙 &amp; 두괄식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잘된 보고는 언제나 이 세 가지를 만족합니다.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889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2040" y="2212848"/>
            <a:ext cx="640080" cy="64008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2040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88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적시성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70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필요한 순간에 — 늦은 100점보다 빠른 70점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4120" y="2057400"/>
            <a:ext cx="1889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0" y="2212848"/>
            <a:ext cx="640080" cy="64008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4120" y="2926080"/>
            <a:ext cx="188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정확성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5560" y="3246120"/>
            <a:ext cx="170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사실과 의견을 구분해서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1040" y="2057400"/>
            <a:ext cx="1889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5880" y="2212848"/>
            <a:ext cx="640080" cy="64008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5880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40" y="2926080"/>
            <a:ext cx="188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간결성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2480" y="3246120"/>
            <a:ext cx="170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결론부터, 짧게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두괄식 = 결론부터, 그리고 </a:t>
            </a:r>
            <a:r>
              <a:rPr sz="13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PREP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51960"/>
            <a:ext cx="5943600" cy="141732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407408"/>
            <a:ext cx="13487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17136"/>
            <a:ext cx="13487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37760"/>
            <a:ext cx="1348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193792"/>
            <a:ext cx="1348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결론부터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34540" y="4407408"/>
            <a:ext cx="13487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34540" y="4517136"/>
            <a:ext cx="13487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34540" y="4937760"/>
            <a:ext cx="1348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Reason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34540" y="5193792"/>
            <a:ext cx="1348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근거·이유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4407408"/>
            <a:ext cx="13487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4517136"/>
            <a:ext cx="13487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937760"/>
            <a:ext cx="1348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Example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193792"/>
            <a:ext cx="1348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사례·수치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14900" y="4407408"/>
            <a:ext cx="13487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14900" y="4517136"/>
            <a:ext cx="13487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4900" y="4937760"/>
            <a:ext cx="1348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4900" y="5193792"/>
            <a:ext cx="1348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결론 재확인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852160"/>
            <a:ext cx="5943600" cy="1828800"/>
          </a:xfrm>
          <a:prstGeom prst="roundRect">
            <a:avLst>
              <a:gd name="adj" fmla="val 4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9846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🌀 미괄식 (신입 디폴트)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“어제 거래처 연락이 왔는데, 담당자가 바뀌어서… 결국 일정이 2일 밀릴 것 같습니다.”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8122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⭐ 두괄식 (일잘러)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7132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“일정이 2일 지연될 것 같습니다.(결론) 담당자 교체 때문이고, 대안은 △△입니다.”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첫 문장이 보고의 승부처다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기본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공문서 작성법 (행정업무편람)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943600" cy="1097280"/>
          </a:xfrm>
          <a:prstGeom prst="roundRect">
            <a:avLst>
              <a:gd name="adj" fmla="val 5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8872" cy="10972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공문서란?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회사의 의사를 공식적으로 기록·전달하는 문서. ‘정해진 형식’과 ‘정확한 표현’이 생명입니다. 행정업무편람의 기본 원칙을 따릅니다.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0720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작성 5원칙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5943600" cy="54864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" y="3319272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정확성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2004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사실에 근거 · 오탈자·숫자 오류 없이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5943600" cy="54864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1792" y="3941064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9227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2219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간결성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822192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한 문장 한 뜻 · 군더더기 없이 짧게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43984"/>
            <a:ext cx="5943600" cy="54864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" y="4562856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5445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443984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명확성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44398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애매한 표현 금지 · 누가 봐도 같은 의미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65776"/>
            <a:ext cx="5943600" cy="54864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184648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1663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65776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성실·예의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065776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정중한 표현 · 받는 사람 입장 고려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87568"/>
            <a:ext cx="5943600" cy="54864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1792" y="5806440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7881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687568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형식 준수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687568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두문-본문-결문 · 항목 기호(1. 가. 1) …)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355080"/>
            <a:ext cx="5943600" cy="1234440"/>
          </a:xfrm>
          <a:prstGeom prst="roundRect">
            <a:avLst>
              <a:gd name="adj" fmla="val 4000"/>
            </a:avLst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항목 구분 순서 (행정업무편람)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839712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 →  가.  →  1)  →  가)  →  (1)  →  (가)  →  ①  →  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둘째 항목부터는 상위 항목 위치에서 1자(2타)씩 들여쓰기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형식이 신뢰를 만든다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기본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원페이지 보고서 — 한 장으로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943600" cy="1051560"/>
          </a:xfrm>
          <a:prstGeom prst="roundRect">
            <a:avLst>
              <a:gd name="adj" fmla="val 5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8872" cy="105156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왜 한 장인가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바쁜 의사결정자는 ‘한 장’을 원합니다. 핵심만 구조화하면 한 장으로 충분 — 길이가 아니라 ‘구성’이 실력입니다.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6148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원페이지 기본 골격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1691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제목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15468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무엇에 대한 보고인가 — 한눈에 주제 파악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67912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867912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67912"/>
            <a:ext cx="1691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개요 / 목적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867912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왜 이 보고를 하는가 (배경·추진 근거)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81144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581144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81144"/>
            <a:ext cx="1691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현황 /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81144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지금 상황은? 핵심 사실·데이터 (사실 중심)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294376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294376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94376"/>
            <a:ext cx="1691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대안 / 방안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294376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어떻게 할 것인가 — 1~3개 선택지와 비교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07608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6007608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007608"/>
            <a:ext cx="1691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결론 / 건의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6007608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제언과 의사결정 요청 (무엇을 승인받을지)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720840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672084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720840"/>
            <a:ext cx="1691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향후 일정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672084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언제·누가·무엇을 — 실행 계획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7452360"/>
            <a:ext cx="5943600" cy="502920"/>
          </a:xfrm>
          <a:prstGeom prst="roundRect">
            <a:avLst>
              <a:gd name="adj" fmla="val 8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7452360"/>
            <a:ext cx="55412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‘사실’과 ‘의견(제언)’을 칸으로 분리하면 신뢰도가 올라갑니다.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길게 쓰지 말고, 구조로 압축하라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AI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AI로 보고서 빠르게 — 4단계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AI는 </a:t>
            </a:r>
            <a:r>
              <a:rPr sz="12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‘초안 작성·구조화·다듬기’</a:t>
            </a:r>
            <a:r>
              <a:rPr sz="1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를 돕습니다. ‘판단과 책임’은 나의 몫.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5943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4" y="2331720"/>
            <a:ext cx="502920" cy="5029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3317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2951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기획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624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목적·대상·핵심 메시지를 한 줄로 정리 (AI에게 줄 ‘재료’)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90088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990088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“신입교육 만족도 개선 보고서를 쓸 거야. 대상은 팀장, 핵심은 ‘실습 비중 확대 건의’.”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5943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3840480"/>
            <a:ext cx="502920" cy="5029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8404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803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133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AI에게 원페이지 구조로 초안 요청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98848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498848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“위 내용을 원페이지 보고서로. 개요·현황·개선안·건의·일정 순서로 써줘.”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66360"/>
            <a:ext cx="5943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5349240"/>
            <a:ext cx="502920" cy="5029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5349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53126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5641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사실·수치·근거를 내가 직접 확인·수정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6007608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6007608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AI가 지어낸 수치·내용이 없는지 점검 → 실제 데이터로 교체 (가장 중요!)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675120"/>
            <a:ext cx="5943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3504" y="6858000"/>
            <a:ext cx="502920" cy="5029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6858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682142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다듬기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71506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톤·길이·표현을 AI로 마무리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7516368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7516368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💬  </a:t>
            </a: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“더 간결하게”, “두괄식으로”, “공문체로” 등으로 마지막 손질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AI는 거들 뿐 — 판단은 사람이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·  팀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전지 · 매직 보고서 작성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943600" cy="1005840"/>
          </a:xfrm>
          <a:prstGeom prst="roundRect">
            <a:avLst>
              <a:gd name="adj" fmla="val 5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8872" cy="100584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824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🎯  실습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스마트폰으로 AI 초안을 만들고, 조별로 </a:t>
            </a:r>
            <a:r>
              <a:rPr sz="11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전지에 매직으로 ‘원페이지 보고서’</a:t>
            </a:r>
            <a:r>
              <a:rPr sz="11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를 완성해 발표합니다.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진행 순서 (조별 · 약 40분)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45536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3291840"/>
            <a:ext cx="420624" cy="420624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918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3697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주제 선정 &amp; 기획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2958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미션카드에서 주제 선택 → 목적·대상·핵심 메시지 합의 (5분)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0208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4096512"/>
            <a:ext cx="420624" cy="420624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0965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4164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AI로 초안 만들기 (모바일)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3425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제미나이·노트북LM으로 구조 초안 생성 → 사실 검증 (10분)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80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4901184"/>
            <a:ext cx="420624" cy="420624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9011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4632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전지에 옮겨 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13892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원페이지 골격에 맞춰 매직으로 작성 · 도식·강조 활용 (20분)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59552"/>
            <a:ext cx="594360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5705856"/>
            <a:ext cx="420624" cy="420624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70585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5099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조별 발표 &amp; 피드백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943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1분 두괄식 발표 → 상호 피드백 (5분)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446520"/>
            <a:ext cx="5943600" cy="2011680"/>
          </a:xfrm>
          <a:prstGeom prst="roundRect">
            <a:avLst>
              <a:gd name="adj" fmla="val 4000"/>
            </a:avLst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6476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🏆  평가 기준 (각 5점)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7214616"/>
            <a:ext cx="91440" cy="45720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7159752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74523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원페이지 골격을 갖췄는가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11880" y="7214616"/>
            <a:ext cx="91440" cy="45720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13048" y="7159752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두괄식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3048" y="74523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결론·핵심이 먼저 보이는가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7872984"/>
            <a:ext cx="91440" cy="45720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7818120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사실성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" y="81107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사실/의견 구분, 근거가 있는가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11880" y="7872984"/>
            <a:ext cx="91440" cy="45720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13048" y="7818120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전달력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3048" y="81107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한눈에 이해되는 시각 구성인가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손으로 쓰면, 머리에 남는다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·  팀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보고서 미션카드 (택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조별로 미션 1개를 골라 </a:t>
            </a: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자유롭게 토론하며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‘원페이지 보고서’로 완성하세요. (실제 상황으로 바꿔도 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28803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457200" y="2194560"/>
            <a:ext cx="2880360" cy="457200"/>
          </a:xfrm>
          <a:prstGeom prst="round2SameRect">
            <a:avLst>
              <a:gd name="adj1" fmla="val 35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📋  MISSION A · 행사기획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98064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신입사원 워크숍 개최 계획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11296"/>
            <a:ext cx="1965960" cy="320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목적·프로그램·예산·일정을 한 장으로 보고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194560"/>
            <a:ext cx="28803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3520440" y="2194560"/>
            <a:ext cx="2880360" cy="457200"/>
          </a:xfrm>
          <a:prstGeom prst="round2SameRect">
            <a:avLst>
              <a:gd name="adj1" fmla="val 35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276856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🛠️  MISSION B · 업무개선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798064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반복 업무 자동화 제안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511296"/>
            <a:ext cx="1965960" cy="320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657600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현황 문제 → AI 활용 개선안 → 기대효과 건의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28803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457200" y="4434840"/>
            <a:ext cx="2880360" cy="457200"/>
          </a:xfrm>
          <a:prstGeom prst="round2SameRect">
            <a:avLst>
              <a:gd name="adj1" fmla="val 35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17136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📊  MISSION C · 현황보고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38344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교육 만족도 조사 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751576"/>
            <a:ext cx="1965960" cy="320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설문 결과 분석 → 시사점 → 개선 방안 제시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4434840"/>
            <a:ext cx="28803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3520440" y="4434840"/>
            <a:ext cx="2880360" cy="457200"/>
          </a:xfrm>
          <a:prstGeom prst="round2SameRect">
            <a:avLst>
              <a:gd name="adj1" fmla="val 35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517136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⚠️  MISSION D · 상황보고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038344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업무 지연 상황 중간보고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5751576"/>
            <a:ext cx="1965960" cy="320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5897880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원인·영향·대응방안을 두괄식으로 신속 보고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675120"/>
            <a:ext cx="28803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457200" y="6675120"/>
            <a:ext cx="2880360" cy="457200"/>
          </a:xfrm>
          <a:prstGeom prst="round2SameRect">
            <a:avLst>
              <a:gd name="adj1" fmla="val 35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757416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💡  MISSION E · 아이디어톤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7278624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있으면 좋겠다! 사내 문화·복지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7991856"/>
            <a:ext cx="1965960" cy="320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8138160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팀 토론으로 베스트 아이디어 1개 → 제안서 한 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20440" y="6675120"/>
            <a:ext cx="28803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20440" y="6675120"/>
            <a:ext cx="2880360" cy="457200"/>
          </a:xfrm>
          <a:prstGeom prst="round2SameRect">
            <a:avLst>
              <a:gd name="adj1" fmla="val 35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6757416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📣  MISSION F · 홍보기획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7278624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MZ세대 겨냥 회사 SNS 홍보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3320" y="7991856"/>
            <a:ext cx="1965960" cy="320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03320" y="8138160"/>
            <a:ext cx="2514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회사 매력 발굴 → 콘텐츠 컨셉·기대효과 한 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어떤 일이든, 보고는 한 장이면 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 ·  워크시트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나의 원페이지 보고서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선택한 미션을 아래 칸에 채우며 ‘전지 옮기기 전 설계도’를 완성하세요.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5943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91440" cy="77724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① 제목 / 한 줄 핵심 메시지 (가장 하고 싶은 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6888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788920"/>
            <a:ext cx="2880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788920"/>
            <a:ext cx="91440" cy="118872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② 목적 (Why)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546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이 보고로 결정할 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3756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8046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20440" y="2788920"/>
            <a:ext cx="2880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0440" y="2788920"/>
            <a:ext cx="91440" cy="118872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89864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③ 대상 (Who)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1546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누가 읽는가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333756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40" y="368046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4069080"/>
            <a:ext cx="5943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069080"/>
            <a:ext cx="91440" cy="137160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78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④ 현황 · 문제 (사실·데이터 중심)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61772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90728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19684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532120"/>
            <a:ext cx="5943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5532120"/>
            <a:ext cx="91440" cy="137160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418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⑤ 대안 · 방안 (어떻게 할 것인가)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08076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637032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6659880"/>
            <a:ext cx="548640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6995160"/>
            <a:ext cx="2880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6995160"/>
            <a:ext cx="91440" cy="141732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710488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⑥ 결론 · 건의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73609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무엇을 승인받을지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754380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784860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815340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20440" y="6995160"/>
            <a:ext cx="2880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20440" y="6995160"/>
            <a:ext cx="91440" cy="141732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710488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⑦ 향후 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40" y="73609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언제·누가·무엇을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40" y="754380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9040" y="784860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49040" y="8153400"/>
            <a:ext cx="2423160" cy="12700"/>
          </a:xfrm>
          <a:prstGeom prst="rect">
            <a:avLst/>
          </a:prstGeom>
          <a:solidFill>
            <a:srgbClr val="D9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7200" y="8549640"/>
            <a:ext cx="5943600" cy="502920"/>
          </a:xfrm>
          <a:prstGeom prst="roundRect">
            <a:avLst>
              <a:gd name="adj" fmla="val 8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8549640"/>
            <a:ext cx="55412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막히면 스마트폰으로 “이 칸에 들어갈 내용을 제안해줘”라고 AI에게 물어보세요.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설계가 끝나면, 전지로!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WRAP-UP  ·  핵심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오늘 챙겨갈 5가지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777240" cy="50292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023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9436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9164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AI는 ‘도구’ — 일을 대신하는 게 아니라 더 빠르게 돕는다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59436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2990088"/>
            <a:ext cx="457200" cy="45720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71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4320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좋은 질문(프롬프트)이 좋은 결과를 만든다 — R·O·C·F·E·C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59436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794760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4041648"/>
            <a:ext cx="457200" cy="45720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023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6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결과물은 ‘초안’ — 사실·수치는 반드시 내가 검증한다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59436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5093208"/>
            <a:ext cx="457200" cy="45720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074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4632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보고는 두괄식 — 결론부터, 사실과 의견을 구분해서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97880"/>
            <a:ext cx="59436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80000" dist="38000" dir="5400000" rotWithShape="0">
              <a:srgbClr val="1B27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D2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9808" y="6144768"/>
            <a:ext cx="457200" cy="457200"/>
          </a:xfrm>
          <a:prstGeom prst="ellipse">
            <a:avLst/>
          </a:prstGeom>
          <a:solidFill>
            <a:srgbClr val="D2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6126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89788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보안 최우선 — 민감·대외비 정보는 공개형 AI에 넣지 않는다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9375343"/>
            <a:ext cx="6858000" cy="530352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9375343"/>
            <a:ext cx="6858000" cy="41148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9393631"/>
            <a:ext cx="5943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배운 한 가지를, 내일 업무에서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5695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20116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6858000" cy="6400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06240" y="822960"/>
            <a:ext cx="3291840" cy="3291840"/>
          </a:xfrm>
          <a:prstGeom prst="ellipse">
            <a:avLst/>
          </a:prstGeom>
          <a:solidFill>
            <a:srgbClr val="16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내일부터 이렇게 써보겠습니다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100584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5943600" cy="1143000"/>
          </a:xfrm>
          <a:prstGeom prst="roundRect">
            <a:avLst>
              <a:gd name="adj" fmla="val 5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992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활용 1가지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649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예: 회의록 요약을 노트북LM으로 자동화한다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767328"/>
            <a:ext cx="4846320" cy="12700"/>
          </a:xfrm>
          <a:prstGeom prst="rect">
            <a:avLst/>
          </a:prstGeom>
          <a:solidFill>
            <a:srgbClr val="3A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5943600" cy="1143000"/>
          </a:xfrm>
          <a:prstGeom prst="roundRect">
            <a:avLst>
              <a:gd name="adj" fmla="val 5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793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 습관 1가지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4515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예: 모든 보고는 결론부터 — 첫 문장에 답을 담는다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5047488"/>
            <a:ext cx="4846320" cy="12700"/>
          </a:xfrm>
          <a:prstGeom prst="rect">
            <a:avLst/>
          </a:prstGeom>
          <a:solidFill>
            <a:srgbClr val="3A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5394960"/>
            <a:ext cx="5943600" cy="1143000"/>
          </a:xfrm>
          <a:prstGeom prst="roundRect">
            <a:avLst>
              <a:gd name="adj" fmla="val 5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55955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 주 실천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92531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예: 다음 주간보고를 AI 초안 → 검증으로 작성해 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6327648"/>
            <a:ext cx="4846320" cy="12700"/>
          </a:xfrm>
          <a:prstGeom prst="rect">
            <a:avLst/>
          </a:prstGeom>
          <a:solidFill>
            <a:srgbClr val="3A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777240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845820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오늘의 한 가지를, 내일의 첫 업무에서.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93268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6A6CC"/>
                </a:solidFill>
                <a:latin typeface="맑은 고딕"/>
                <a:ea typeface="맑은 고딕"/>
                <a:cs typeface="맑은 고딕"/>
              </a:rPr>
              <a:t>한전원자력연료  ·  2026 신입직원 입문교육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