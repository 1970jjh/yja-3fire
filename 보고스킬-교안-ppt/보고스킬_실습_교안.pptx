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822960" cy="762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C9BC"/>
                </a:solidFill>
                <a:latin typeface="맑은 고딕"/>
              </a:rPr>
              <a:t>REPORTING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9D6EE"/>
                </a:solidFill>
                <a:latin typeface="맑은 고딕"/>
              </a:rPr>
              <a:t>애매한 상사의 말을 번역하고, 나를 신뢰하게 만드는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9D6EE"/>
                </a:solidFill>
                <a:latin typeface="맑은 고딕"/>
              </a:rPr>
              <a:t>신입사원의 보고 기술 — 실습 중심 발표 교안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69280"/>
            <a:ext cx="2606040" cy="45720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5A7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AF0FB"/>
                </a:solidFill>
                <a:latin typeface="맑은 고딕"/>
              </a:rPr>
              <a:t>대상 · 신입~3년차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5669280"/>
            <a:ext cx="2606040" cy="45720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5A7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5760720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AF0FB"/>
                </a:solidFill>
                <a:latin typeface="맑은 고딕"/>
              </a:rPr>
              <a:t>소요 · 90분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669280"/>
            <a:ext cx="2606040" cy="45720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5A7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760720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AF0FB"/>
                </a:solidFill>
                <a:latin typeface="맑은 고딕"/>
              </a:rPr>
              <a:t>구성 · 5개 모듈 · 실습 포함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오늘 배울 5가지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17904"/>
            <a:ext cx="548640" cy="548640"/>
          </a:xfrm>
          <a:prstGeom prst="roundRect">
            <a:avLst>
              <a:gd name="adj" fmla="val 6000"/>
            </a:avLst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544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9047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223A"/>
                </a:solidFill>
                <a:latin typeface="맑은 고딕"/>
              </a:rPr>
              <a:t>상사의 말 번역하기 — 질문의 기술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7488"/>
                </a:solidFill>
                <a:latin typeface="맑은 고딕"/>
              </a:rPr>
              <a:t>모르면 그 자리에서 묻는다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22576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46888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50545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44144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223A"/>
                </a:solidFill>
                <a:latin typeface="맑은 고딕"/>
              </a:rPr>
              <a:t>구두 보고 &amp; 과제 프레이밍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7980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7488"/>
                </a:solidFill>
                <a:latin typeface="맑은 고딕"/>
              </a:rPr>
              <a:t>타이밍과 기대 수준 맞추기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73552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3419856"/>
            <a:ext cx="548640" cy="548640"/>
          </a:xfrm>
          <a:prstGeom prst="roundRect">
            <a:avLst>
              <a:gd name="adj" fmla="val 6000"/>
            </a:avLst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45643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92424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223A"/>
                </a:solidFill>
                <a:latin typeface="맑은 고딕"/>
              </a:rPr>
              <a:t>이메일 보고 &amp; 보고서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49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7488"/>
                </a:solidFill>
                <a:latin typeface="맑은 고딕"/>
              </a:rPr>
              <a:t>맥락과 의견을 담는다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24528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4370832"/>
            <a:ext cx="548640" cy="548640"/>
          </a:xfrm>
          <a:prstGeom prst="roundRect">
            <a:avLst>
              <a:gd name="adj" fmla="val 6000"/>
            </a:avLst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40740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343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223A"/>
                </a:solidFill>
                <a:latin typeface="맑은 고딕"/>
              </a:rPr>
              <a:t>보고의 자세 — 메신저 vs 플레이어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00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7488"/>
                </a:solidFill>
                <a:latin typeface="맑은 고딕"/>
              </a:rPr>
              <a:t>대안을 들고 간다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75504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5321808"/>
            <a:ext cx="548640" cy="548640"/>
          </a:xfrm>
          <a:prstGeom prst="roundRect">
            <a:avLst>
              <a:gd name="adj" fmla="val 6000"/>
            </a:avLst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3583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9437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223A"/>
                </a:solidFill>
                <a:latin typeface="맑은 고딕"/>
              </a:rPr>
              <a:t>상사 유형 파악 &amp; 맞춤 소통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65099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7488"/>
                </a:solidFill>
                <a:latin typeface="맑은 고딕"/>
              </a:rPr>
              <a:t>유형을 알면 합이 맞는다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EAF0FB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6A4B"/>
                </a:solidFill>
                <a:latin typeface="맑은 고딕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상사의 말 번역하기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— 질문의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488"/>
                </a:solidFill>
                <a:latin typeface="맑은 고딕"/>
              </a:rPr>
              <a:t>상사는 늘 명확히 지시하지 않는다. 심지어 본인도 일을 정확히 모를 때가 있다. 가장 좋은 번역기는 '질문'이며, 신입에게는 질문할 권리가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01 · 핵심개념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질문이 신뢰를 만든다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3500" cy="13716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지시받은 </a:t>
            </a:r>
            <a:r>
              <a:rPr sz="1300" b="1">
                <a:solidFill>
                  <a:srgbClr val="1E3565"/>
                </a:solidFill>
                <a:latin typeface="맑은 고딕"/>
              </a:rPr>
              <a:t>그 자리에서</a:t>
            </a:r>
            <a:r>
              <a:rPr sz="1300" b="0">
                <a:solidFill>
                  <a:srgbClr val="2A3142"/>
                </a:solidFill>
                <a:latin typeface="맑은 고딕"/>
              </a:rPr>
              <a:t> 모르는 부분을 묻지 않는 것이 신입의 치명적 실수다.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질문 없이 자리로 돌아가면 상사는 오히려 </a:t>
            </a:r>
            <a:r>
              <a:rPr sz="1300" b="1">
                <a:solidFill>
                  <a:srgbClr val="1E3565"/>
                </a:solidFill>
                <a:latin typeface="맑은 고딕"/>
              </a:rPr>
              <a:t>불안</a:t>
            </a:r>
            <a:r>
              <a:rPr sz="1300" b="0">
                <a:solidFill>
                  <a:srgbClr val="2A3142"/>
                </a:solidFill>
                <a:latin typeface="맑은 고딕"/>
              </a:rPr>
              <a:t>해진다.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5318607" cy="155448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9C85"/>
                </a:solidFill>
                <a:latin typeface="맑은 고딕"/>
              </a:rPr>
              <a:t>① 멋대로 처리할 확률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476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모르는 부분을 임의로 처리하다 생기는 사고를 막는다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017520"/>
            <a:ext cx="5318607" cy="155448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3273552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6A4B"/>
                </a:solidFill>
                <a:latin typeface="맑은 고딕"/>
              </a:rPr>
              <a:t>② 적극적이라는 인상 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794760"/>
            <a:ext cx="476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맡은 일을 능동적으로 대한다는 신뢰를 준다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01 ·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정 사원의 원형탈모 사건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1371600"/>
            <a:ext cx="9494215" cy="713232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박 차장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1499616"/>
            <a:ext cx="9082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정 사원, 기획팀에서 '필수 교육 시간' 체크 중인데 이것 좀 처리해줘요.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249424"/>
            <a:ext cx="9494215" cy="9601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49424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1B9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22576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정 사원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2377440"/>
            <a:ext cx="9082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넵!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798064"/>
            <a:ext cx="90827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A7488"/>
                </a:solidFill>
                <a:latin typeface="맑은 고딕"/>
              </a:rPr>
              <a:t>(속마음) </a:t>
            </a:r>
            <a:r>
              <a:rPr sz="1100" b="0">
                <a:solidFill>
                  <a:srgbClr val="6A7488"/>
                </a:solidFill>
                <a:latin typeface="맑은 고딕"/>
              </a:rPr>
              <a:t>필수 교육 시간이 뭐지? 일단 알겠다고 하고 나중에 알아보자…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1985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7488"/>
                </a:solidFill>
                <a:latin typeface="맑은 고딕"/>
              </a:rPr>
              <a:t>→ 묻지 않고 '봉사활동 시간'으로 짐작해 야근까지 했지만, 다음 날 "내가 언제 봉사활동을 말했어요?"라는 핀잔만. 한 번 물었다면 없었을 고생이다.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01 · 실습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"넵"을 똑똑한 질문으로 바꾸기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3565"/>
                </a:solidFill>
                <a:latin typeface="맑은 고딕"/>
              </a:rPr>
              <a:t>실습 목표.  </a:t>
            </a:r>
            <a:r>
              <a:rPr sz="1200" b="0">
                <a:solidFill>
                  <a:srgbClr val="2A3142"/>
                </a:solidFill>
                <a:latin typeface="맑은 고딕"/>
              </a:rPr>
              <a:t>돌아서서 혼자 추측하는 대답을, 맥락을 파악하는 질문으로 바꾼다.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18607" cy="274320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4861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6A4B"/>
                </a:solidFill>
                <a:latin typeface="맑은 고딕"/>
              </a:rPr>
              <a:t>BEFORE — 이렇게 하면 고생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34640"/>
            <a:ext cx="480654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"넵."  (돌아서서 혼자 추측 → 엉뚱한 결과물)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148840"/>
            <a:ext cx="5318607" cy="274320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2331720"/>
            <a:ext cx="4861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C85"/>
                </a:solidFill>
                <a:latin typeface="맑은 고딕"/>
              </a:rPr>
              <a:t>AFTER — 모범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834640"/>
            <a:ext cx="480654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"네. 그런데 '필수 교육 시간'을 조금 더 설명해 주실 수 있을까요?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그리고 이걸 체크하는 목적은 무엇인가요?"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(센스 버전) "정확한 맥락 파악을 위해 기획팀에서 받으신 메일을 전달해 주시겠어요?"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56632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56632"/>
            <a:ext cx="63500" cy="777240"/>
          </a:xfrm>
          <a:prstGeom prst="rect">
            <a:avLst/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75504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930C"/>
                </a:solidFill>
                <a:latin typeface="맑은 고딕"/>
              </a:rPr>
              <a:t>힌트.  </a:t>
            </a:r>
            <a:r>
              <a:rPr sz="1200" b="0">
                <a:solidFill>
                  <a:srgbClr val="2A3142"/>
                </a:solidFill>
                <a:latin typeface="맑은 고딕"/>
              </a:rPr>
              <a:t>① 목적을 묻고  ② '기획팀'이라는 단어를 놓치지 말 것 — 일의 출처로 질문을 넘기면 상사도 편하고 실수도 준다.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01 ·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질문의 기술 — 핵심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1008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6A4B"/>
                </a:solidFill>
                <a:latin typeface="맑은 고딕"/>
              </a:rPr>
              <a:t>핵심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8857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•  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상사의 지시는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그 자리에서 질문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해 해석한다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•  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상사도 모르면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직접 관련된 부서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에 질문한다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•  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메일 등으로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맥락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을 파악하면 더 좋은 질문을 할 수 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EAF0FB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6A4B"/>
                </a:solidFill>
                <a:latin typeface="맑은 고딕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구두 보고 &amp;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과제 프레이밍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488"/>
                </a:solidFill>
                <a:latin typeface="맑은 고딕"/>
              </a:rPr>
              <a:t>의사결정이 빨라진 시대, 보고는 '신속함'이 핵심이다. 구두 보고는 타이밍이 생명, 과제 프레이밍으로 기대 수준을 미리 맞추면 헛수고를 막는다.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02 · 핵심개념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구두 보고의 4가지 타이밍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50027" cy="12801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3500" cy="12801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B4C8C"/>
                </a:solidFill>
                <a:latin typeface="맑은 고딕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92224"/>
            <a:ext cx="40613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223A"/>
                </a:solidFill>
                <a:latin typeface="맑은 고딕"/>
              </a:rPr>
              <a:t>업무를 지시받았을 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1587" y="1371600"/>
            <a:ext cx="5250027" cy="12801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1587" y="1371600"/>
            <a:ext cx="63500" cy="12801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5907" y="1664208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B4C8C"/>
                </a:solidFill>
                <a:latin typeface="맑은 고딕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3147" y="1792224"/>
            <a:ext cx="40613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223A"/>
                </a:solidFill>
                <a:latin typeface="맑은 고딕"/>
              </a:rPr>
              <a:t>개괄 조사를 마쳤을 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5250027" cy="12801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63500" cy="12801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B4C8C"/>
                </a:solidFill>
                <a:latin typeface="맑은 고딕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46704"/>
            <a:ext cx="40613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223A"/>
                </a:solidFill>
                <a:latin typeface="맑은 고딕"/>
              </a:rPr>
              <a:t>방향·일정을 조율할 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1587" y="2926080"/>
            <a:ext cx="5250027" cy="12801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1587" y="2926080"/>
            <a:ext cx="63500" cy="12801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5907" y="3218688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B4C8C"/>
                </a:solidFill>
                <a:latin typeface="맑은 고딕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3147" y="3346704"/>
            <a:ext cx="40613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223A"/>
                </a:solidFill>
                <a:latin typeface="맑은 고딕"/>
              </a:rPr>
              <a:t>문서로 남기기 전에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17720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617720"/>
            <a:ext cx="63500" cy="77724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36592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6A4B"/>
                </a:solidFill>
                <a:latin typeface="맑은 고딕"/>
              </a:rPr>
              <a:t>주의.  </a:t>
            </a:r>
            <a:r>
              <a:rPr sz="1200" b="0">
                <a:solidFill>
                  <a:srgbClr val="2A3142"/>
                </a:solidFill>
                <a:latin typeface="맑은 고딕"/>
              </a:rPr>
              <a:t>"지금 준비 중입니다"만 반복하면 상사는 속으로 벼른다. 진행 정도와 막힌 지점을 말하는 것이 보고다.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02 · 핵심개념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과제 프레이밍 3단계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3500" cy="1143000"/>
          </a:xfrm>
          <a:prstGeom prst="rect">
            <a:avLst/>
          </a:prstGeom>
          <a:solidFill>
            <a:srgbClr val="1B9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B9C85"/>
                </a:solidFill>
                <a:latin typeface="맑은 고딕"/>
              </a:rPr>
              <a:t>1  목적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받은 당일 목적·용도를 물어 의도를 파악한다. 관계없는 정보를 자연스레 거를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70048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70048"/>
            <a:ext cx="63500" cy="1143000"/>
          </a:xfrm>
          <a:prstGeom prst="rect">
            <a:avLst/>
          </a:prstGeom>
          <a:solidFill>
            <a:srgbClr val="1B9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B9C85"/>
                </a:solidFill>
                <a:latin typeface="맑은 고딕"/>
              </a:rPr>
              <a:t>2  개괄 조사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28416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빠른 데스크 리서치로 결과물의 '감'을 잡고 기대 수준을 상사와 공유한다.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68496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68496"/>
            <a:ext cx="63500" cy="1143000"/>
          </a:xfrm>
          <a:prstGeom prst="rect">
            <a:avLst/>
          </a:prstGeom>
          <a:solidFill>
            <a:srgbClr val="1B9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5137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B9C85"/>
                </a:solidFill>
                <a:latin typeface="맑은 고딕"/>
              </a:rPr>
              <a:t>3  프레이밍 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26864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방향·기간 변화 시 ①상황 전달 ②수정안 제안 ③의견 요청 순으로 보고한다.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02 ·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프레이밍 수정 보고 만들기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3565"/>
                </a:solidFill>
                <a:latin typeface="맑은 고딕"/>
              </a:rPr>
              <a:t>상황.  </a:t>
            </a:r>
            <a:r>
              <a:rPr sz="1250" b="0">
                <a:solidFill>
                  <a:srgbClr val="2A3142"/>
                </a:solidFill>
                <a:latin typeface="맑은 고딕"/>
              </a:rPr>
              <a:t>"내일모레 오전까지 드리기로 했는데, 같은 시간에 신입 전체 교육이 잡혔다는 공지가 왔다."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7488"/>
                </a:solidFill>
                <a:latin typeface="맑은 고딕"/>
              </a:rPr>
              <a:t>→ ①상황 ②제안 ③의견요청 3단 구조로 한 문장 보고를 만들어 보자.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0911535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7488"/>
                </a:solidFill>
                <a:latin typeface="맑은 고딕"/>
              </a:rPr>
              <a:t>작성란 ✎  ___________________________________________________________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911535" cy="109728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9C85"/>
                </a:solidFill>
                <a:latin typeface="맑은 고딕"/>
              </a:rPr>
              <a:t>모범 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A3142"/>
                </a:solidFill>
                <a:latin typeface="맑은 고딕"/>
              </a:rPr>
              <a:t>"신입 전체 교육이 내일모레 오전에 잡혔습니다(상황). 혹시 </a:t>
            </a:r>
            <a:r>
              <a:rPr sz="1250" b="1">
                <a:solidFill>
                  <a:srgbClr val="1E3565"/>
                </a:solidFill>
                <a:latin typeface="맑은 고딕"/>
              </a:rPr>
              <a:t>그다음 날 오전까지</a:t>
            </a:r>
            <a:r>
              <a:rPr sz="1250" b="0">
                <a:solidFill>
                  <a:srgbClr val="2A3142"/>
                </a:solidFill>
                <a:latin typeface="맑은 고딕"/>
              </a:rPr>
              <a:t> 드려도 괜찮을까요(제안)? 일정 조정이 가능한지 여쭙습니다(의견요청)."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02 ·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구두 보고 — 핵심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1008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6A4B"/>
                </a:solidFill>
                <a:latin typeface="맑은 고딕"/>
              </a:rPr>
              <a:t>핵심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8857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•  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구두 보고는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타이밍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 — 지시 직후·개괄조사 후·조율 시·문서화 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• 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과제 프레이밍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으로 결과물의 기대 수준을 미리 맞춘다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•  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프레임 변경은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상황 → 제안 → 의견요청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 순으로 보고한다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EAF0FB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6A4B"/>
                </a:solidFill>
                <a:latin typeface="맑은 고딕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이메일 보고 &amp;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보고서 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488"/>
                </a:solidFill>
                <a:latin typeface="맑은 고딕"/>
              </a:rPr>
              <a:t>이메일은 빠르고 체계적이지만 맥락이 빠지기 쉽다. 보고서는 완결된 콘텐츠인 만큼 목적·두괄식·의견이 핵심이다.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03 · 핵심개념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이메일 보고 3원칙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3500" cy="11430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565"/>
                </a:solidFill>
                <a:latin typeface="맑은 고딕"/>
              </a:rPr>
              <a:t>① 제목에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'Re:'·'안녕하세요'가 아니라 "경쟁사 현황 데이터 및 동향 보고"처럼.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70048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70048"/>
            <a:ext cx="63500" cy="11430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565"/>
                </a:solidFill>
                <a:latin typeface="맑은 고딕"/>
              </a:rPr>
              <a:t>② 서론·본론·결론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28416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서론(경위·목적) · 본론(자료 상세) · 결론(1차 의견·제안).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68496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68496"/>
            <a:ext cx="63500" cy="11430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5137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565"/>
                </a:solidFill>
                <a:latin typeface="맑은 고딕"/>
              </a:rPr>
              <a:t>③ 수신·참조 구별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26864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받는 사람=실행자, 참조=관계자. 섞이면 서로 미룬다.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03 ·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맥락 없는 이메일 살리기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3565"/>
                </a:solidFill>
                <a:latin typeface="맑은 고딕"/>
              </a:rPr>
              <a:t>실습 목표.  </a:t>
            </a:r>
            <a:r>
              <a:rPr sz="1200" b="0">
                <a:solidFill>
                  <a:srgbClr val="2A3142"/>
                </a:solidFill>
                <a:latin typeface="맑은 고딕"/>
              </a:rPr>
              <a:t>첨부만 덜렁 보내지 말 것. 빠진 3가지를 채워 본문을 완성한다.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18607" cy="274320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4861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6A4B"/>
                </a:solidFill>
                <a:latin typeface="맑은 고딕"/>
              </a:rPr>
              <a:t>BEFORE — 이렇게 하면 고생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34640"/>
            <a:ext cx="480654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제목: Re: 경쟁사
"말씀하신 자료입니다. 확인 부탁드립니다. (엑셀 첨부)"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148840"/>
            <a:ext cx="5318607" cy="274320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2331720"/>
            <a:ext cx="4861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C85"/>
                </a:solidFill>
                <a:latin typeface="맑은 고딕"/>
              </a:rPr>
              <a:t>AFTER — 맥락을 담은 보고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834640"/>
            <a:ext cx="480654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제목: 경쟁사 현황 데이터 및 동향 보고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① 첨부 설명: 시트1=뉴스 요약 / 시트2=증권사 리포트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② 1차 의견: 주목할 특이점은 B사의 대규모 투자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③ 추가 정보: 미국 신제품 컨퍼런스 기사 동봉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56632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56632"/>
            <a:ext cx="63500" cy="777240"/>
          </a:xfrm>
          <a:prstGeom prst="rect">
            <a:avLst/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75504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930C"/>
                </a:solidFill>
                <a:latin typeface="맑은 고딕"/>
              </a:rPr>
              <a:t>힌트.  </a:t>
            </a:r>
            <a:r>
              <a:rPr sz="1200" b="0">
                <a:solidFill>
                  <a:srgbClr val="2A3142"/>
                </a:solidFill>
                <a:latin typeface="맑은 고딕"/>
              </a:rPr>
              <a:t>이메일은 맥락 전달이 부족해지기 쉽다 — 첨부 설명·보고자 의견·추가 정보를 함께 담으면 추가 질문이 사라진다.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03 · 핵심개념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보고서 3원칙 &amp; 'So What?'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72887" cy="128016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3500" cy="12801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B4C8C"/>
                </a:solidFill>
                <a:latin typeface="맑은 고딕"/>
              </a:rPr>
              <a:t>① 목적 먼저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왜·어디에 쓰는지 확인 후 시작. 어긋나면 손해가 크다.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371600"/>
            <a:ext cx="5272887" cy="128016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371600"/>
            <a:ext cx="63500" cy="12801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57276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B4C8C"/>
                </a:solidFill>
                <a:latin typeface="맑은 고딕"/>
              </a:rPr>
              <a:t>② 두괄식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084832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첫 페이지에 핵심·결과. 근거는 뒤에 배치한다.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10911535" cy="128016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88920"/>
            <a:ext cx="63500" cy="1280160"/>
          </a:xfrm>
          <a:prstGeom prst="rect">
            <a:avLst/>
          </a:prstGeom>
          <a:solidFill>
            <a:srgbClr val="1B9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90088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9C85"/>
                </a:solidFill>
                <a:latin typeface="맑은 고딕"/>
              </a:rPr>
              <a:t>③ 의견을 담아라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0215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신입에겐 질문할 권리 + '의견 낼 권리'가 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10911535" cy="86868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43400"/>
            <a:ext cx="63500" cy="86868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9704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6A4B"/>
                </a:solidFill>
                <a:latin typeface="맑은 고딕"/>
              </a:rPr>
              <a:t>피해야 할 보고.  </a:t>
            </a:r>
            <a:r>
              <a:rPr sz="1250" b="0">
                <a:solidFill>
                  <a:srgbClr val="2A3142"/>
                </a:solidFill>
                <a:latin typeface="맑은 고딕"/>
              </a:rPr>
              <a:t>점수만 나열 → "그래서 어떤 안이 적합하지?"를 되묻게 한다. </a:t>
            </a:r>
            <a:r>
              <a:rPr sz="1250" b="1">
                <a:solidFill>
                  <a:srgbClr val="16223A"/>
                </a:solidFill>
                <a:latin typeface="맑은 고딕"/>
              </a:rPr>
              <a:t>제안까지가 보고자의 임무.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EAF0FB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6A4B"/>
                </a:solidFill>
                <a:latin typeface="맑은 고딕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보고의 자세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— 메신저 vs 플레이어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488"/>
                </a:solidFill>
                <a:latin typeface="맑은 고딕"/>
              </a:rPr>
              <a:t>상사는 보고의 '자세'로 부하의 일하는 방식을 유추한다. 실수는 용서해도 소극적 태도엔 미운 정도 안 생긴다. 단순 전달자가 아니라 문제를 푸는 선수가 되자.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04 · 핵심개념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메신저 vs 플레이어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72887" cy="219456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00200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26A4B"/>
                </a:solidFill>
                <a:latin typeface="맑은 고딕"/>
              </a:rPr>
              <a:t>메신저  </a:t>
            </a:r>
            <a:r>
              <a:rPr sz="1800" b="1">
                <a:solidFill>
                  <a:srgbClr val="F26A4B"/>
                </a:solidFill>
                <a:latin typeface="맑은 고딕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94560"/>
            <a:ext cx="468767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A3142"/>
                </a:solidFill>
                <a:latin typeface="맑은 고딕"/>
              </a:rPr>
              <a:t>상황만 전달하고 끝낸다.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"안 된다고 합니다." 결정을 상사에게 떠넘긴다.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A7488"/>
                </a:solidFill>
                <a:latin typeface="맑은 고딕"/>
              </a:rPr>
              <a:t>→ 담당자로서 무능해 보인다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371600"/>
            <a:ext cx="5272887" cy="219456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1600200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9C85"/>
                </a:solidFill>
                <a:latin typeface="맑은 고딕"/>
              </a:rPr>
              <a:t>플레이어  </a:t>
            </a:r>
            <a:r>
              <a:rPr sz="1800" b="1">
                <a:solidFill>
                  <a:srgbClr val="1B9C85"/>
                </a:solidFill>
                <a:latin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1335" y="2194560"/>
            <a:ext cx="468767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A3142"/>
                </a:solidFill>
                <a:latin typeface="맑은 고딕"/>
              </a:rPr>
              <a:t>상황 + 원인 + 대안을 함께 보고한다.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"이렇게 해보겠습니다."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A7488"/>
                </a:solidFill>
                <a:latin typeface="맑은 고딕"/>
              </a:rPr>
              <a:t>→ 채택 여부를 떠나 신뢰를 얻는다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041648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223A"/>
                </a:solidFill>
                <a:latin typeface="맑은 고딕"/>
              </a:rPr>
              <a:t>사례 · 물류 마감 사고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62272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정 사원: "업체가 내일 발송이 어렵다고 합니다." → 김 팀장: "그럼 어떻게 하지?" → 정 사원: "저도 잘 모르겠습니다…"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04 ·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메신저 → 플레이어 변환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3565"/>
                </a:solidFill>
                <a:latin typeface="맑은 고딕"/>
              </a:rPr>
              <a:t>실습 목표.  </a:t>
            </a:r>
            <a:r>
              <a:rPr sz="1200" b="0">
                <a:solidFill>
                  <a:srgbClr val="2A3142"/>
                </a:solidFill>
                <a:latin typeface="맑은 고딕"/>
              </a:rPr>
              <a:t>메신저식 보고에 '대안 제시'를 붙여 플레이어식으로 바꾼다.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18607" cy="274320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4861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6A4B"/>
                </a:solidFill>
                <a:latin typeface="맑은 고딕"/>
              </a:rPr>
              <a:t>BEFORE — 이렇게 하면 고생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34640"/>
            <a:ext cx="480654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[물류] "업체가 내일은 발송이 어렵다고 합니다."
[매출] "매출 10% 하락. 환율 변동 탓이라 합니다."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148840"/>
            <a:ext cx="5318607" cy="274320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2331720"/>
            <a:ext cx="4861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C85"/>
                </a:solidFill>
                <a:latin typeface="맑은 고딕"/>
              </a:rPr>
              <a:t>AFTER — 대안을 더한 보고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834640"/>
            <a:ext cx="480654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[물류] "미발송분은 3일 후 출고됩니다. 긴급분만이라도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  보내달라 요청하고, 안 되면 제가 직접 받아 다녀오겠습니다."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[매출] "…환율 영향이 적은 국내산으로 상품을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  구성하는 것은 어떨까 싶습니다."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56632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56632"/>
            <a:ext cx="63500" cy="777240"/>
          </a:xfrm>
          <a:prstGeom prst="rect">
            <a:avLst/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75504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930C"/>
                </a:solidFill>
                <a:latin typeface="맑은 고딕"/>
              </a:rPr>
              <a:t>힌트.  </a:t>
            </a:r>
            <a:r>
              <a:rPr sz="1200" b="0">
                <a:solidFill>
                  <a:srgbClr val="2A3142"/>
                </a:solidFill>
                <a:latin typeface="맑은 고딕"/>
              </a:rPr>
              <a:t>대안의 채택 여부를 떠나, 대안을 들고 가는 것만으로 플레이어의 역할을 한 것이다.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04 ·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보고의 자세 — 핵심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1008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6A4B"/>
                </a:solidFill>
                <a:latin typeface="맑은 고딕"/>
              </a:rPr>
              <a:t>핵심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8857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•  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나쁜 소식엔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항상 대안 1개 이상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을 함께 보고한다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•  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"잘 모르겠다"로 끝내지 않고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내가 할 행동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을 말한다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•  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상사가 처리하게 두지 말고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문제 해결의 주체</a:t>
            </a:r>
            <a:r>
              <a:rPr sz="1500" b="0">
                <a:solidFill>
                  <a:srgbClr val="E6ECF6"/>
                </a:solidFill>
                <a:latin typeface="맑은 고딕"/>
              </a:rPr>
              <a:t>가 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EAF0FB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6A4B"/>
                </a:solidFill>
                <a:latin typeface="맑은 고딕"/>
              </a:rP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상사 유형 파악 &amp;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6223A"/>
                </a:solidFill>
                <a:latin typeface="맑은 고딕"/>
              </a:rPr>
              <a:t>맞춤 소통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A7488"/>
                </a:solidFill>
                <a:latin typeface="맑은 고딕"/>
              </a:rPr>
              <a:t>모든 상사와 잘 지내긴 어렵다. 하지만 '어떤 스타일인지' 아는 것만으로 합을 맞추기 쉬워진다. 친밀도 × 업무관리로 4가지 유형을 나눠 본다.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05 · 핵심개념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상사 유형 매트릭스 (친밀도 × 업무관리)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72887" cy="173736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223A"/>
                </a:solidFill>
                <a:latin typeface="맑은 고딕"/>
              </a:rPr>
              <a:t>관계중시 · 완벽주의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친밀하면서 꼼꼼함. 챙겨주되 디테일 요구.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371600"/>
            <a:ext cx="5272887" cy="1737360"/>
          </a:xfrm>
          <a:prstGeom prst="roundRect">
            <a:avLst>
              <a:gd name="adj" fmla="val 6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1627632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223A"/>
                </a:solidFill>
                <a:latin typeface="맑은 고딕"/>
              </a:rPr>
              <a:t>관계중시 · 방목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1488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동네 선배처럼 챙기며 믿고 맡김.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5272887" cy="173736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2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223A"/>
                </a:solidFill>
                <a:latin typeface="맑은 고딕"/>
              </a:rPr>
              <a:t>개인주의 · 완벽주의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공과 사 구분 + 성과 중심. 업무로만 신뢰.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3383280"/>
            <a:ext cx="5272887" cy="173736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3639312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223A"/>
                </a:solidFill>
                <a:latin typeface="맑은 고딕"/>
              </a:rPr>
              <a:t>개인주의 · 방목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416052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간섭은 적지만 가이드도 적음. 자율과 책임.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05 ·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유형별 핵심 소통법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8686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3500" cy="86868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4C8C"/>
                </a:solidFill>
                <a:latin typeface="맑은 고딕"/>
              </a:rPr>
              <a:t>관계중시형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78025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업무 외 상담·질문, 진심 어린 칭찬, 경조사 챙기기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59152"/>
            <a:ext cx="10911535" cy="8686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59152"/>
            <a:ext cx="63500" cy="868680"/>
          </a:xfrm>
          <a:prstGeom prst="rect">
            <a:avLst/>
          </a:prstGeom>
          <a:solidFill>
            <a:srgbClr val="1B9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1518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9C85"/>
                </a:solidFill>
                <a:latin typeface="맑은 고딕"/>
              </a:rPr>
              <a:t>개인주의형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33472"/>
            <a:ext cx="78025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먼저 업무로 신뢰, 섣부른 사생활 공유·고민상담 자제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46704"/>
            <a:ext cx="10911535" cy="8686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46704"/>
            <a:ext cx="63500" cy="868680"/>
          </a:xfrm>
          <a:prstGeom prst="rect">
            <a:avLst/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0273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930C"/>
                </a:solidFill>
                <a:latin typeface="맑은 고딕"/>
              </a:rPr>
              <a:t>완벽주의형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621024"/>
            <a:ext cx="78025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결론부터·잦은 중간보고, 실수 줄이고 장점 어필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34256"/>
            <a:ext cx="10911535" cy="8686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34256"/>
            <a:ext cx="63500" cy="86868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902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6A4B"/>
                </a:solidFill>
                <a:latin typeface="맑은 고딕"/>
              </a:rPr>
              <a:t>방목형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608576"/>
            <a:ext cx="78025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스스로 과제 프레이밍, 토론 두려워 말고 의견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MODULE 05 · 외전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소통이 어려운 3유형 — 주의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96012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3500" cy="96012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6A4B"/>
                </a:solidFill>
                <a:latin typeface="맑은 고딕"/>
              </a:rPr>
              <a:t>사조직형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385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관계를 이익에 악용. 라인 따라 평가가 갈린다.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10911535" cy="96012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63500" cy="96012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33472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6A4B"/>
                </a:solidFill>
                <a:latin typeface="맑은 고딕"/>
              </a:rPr>
              <a:t>마이크로매니저형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사사건건 개입·닦달. 작은 결정도 못 하게 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10911535" cy="960120"/>
          </a:xfrm>
          <a:prstGeom prst="roundRect">
            <a:avLst>
              <a:gd name="adj" fmla="val 6000"/>
            </a:avLst>
          </a:prstGeom>
          <a:solidFill>
            <a:srgbClr val="FD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63500" cy="96012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30752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6A4B"/>
                </a:solidFill>
                <a:latin typeface="맑은 고딕"/>
              </a:rPr>
              <a:t>구렁이형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3308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3142"/>
                </a:solidFill>
                <a:latin typeface="맑은 고딕"/>
              </a:rPr>
              <a:t>앞뒤가 다르고 말 바꿈. 이야기를 이간질에 쓴다.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81728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7488"/>
                </a:solidFill>
                <a:latin typeface="맑은 고딕"/>
              </a:rPr>
              <a:t>→ 유형 파악 전엔 </a:t>
            </a:r>
            <a:r>
              <a:rPr sz="1300" b="1">
                <a:solidFill>
                  <a:srgbClr val="16223A"/>
                </a:solidFill>
                <a:latin typeface="맑은 고딕"/>
              </a:rPr>
              <a:t>회사 사람에게 일 불만을 말하지 않기.</a:t>
            </a:r>
            <a:r>
              <a:rPr sz="1300" b="0">
                <a:solidFill>
                  <a:srgbClr val="6A7488"/>
                </a:solidFill>
                <a:latin typeface="맑은 고딕"/>
              </a:rPr>
              <a:t> 구렁이형이면 속마음 감추고 가볍게 대화, 긴밀한 관계는 멀리.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나의 보고 스킬 자가진단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92608" cy="292608"/>
          </a:xfrm>
          <a:prstGeom prst="rect">
            <a:avLst/>
          </a:prstGeom>
          <a:solidFill>
            <a:srgbClr val="FFFFFF"/>
          </a:solidFill>
          <a:ln w="20320">
            <a:solidFill>
              <a:srgbClr val="2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53312"/>
            <a:ext cx="103628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지시를 받으면 그 자리에서 목적·범위·형식을 질문한다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292608" cy="292608"/>
          </a:xfrm>
          <a:prstGeom prst="rect">
            <a:avLst/>
          </a:prstGeom>
          <a:solidFill>
            <a:srgbClr val="FFFFFF"/>
          </a:solidFill>
          <a:ln w="20320">
            <a:solidFill>
              <a:srgbClr val="2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920240"/>
            <a:ext cx="103628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큰 과제는 개괄조사 후 기대 수준을 상사와 먼저 맞춘다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05456"/>
            <a:ext cx="292608" cy="292608"/>
          </a:xfrm>
          <a:prstGeom prst="rect">
            <a:avLst/>
          </a:prstGeom>
          <a:solidFill>
            <a:srgbClr val="FFFFFF"/>
          </a:solidFill>
          <a:ln w="20320">
            <a:solidFill>
              <a:srgbClr val="2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87168"/>
            <a:ext cx="103628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진행이 막히면 완성 전이라도 중간 보고를 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72384"/>
            <a:ext cx="292608" cy="292608"/>
          </a:xfrm>
          <a:prstGeom prst="rect">
            <a:avLst/>
          </a:prstGeom>
          <a:solidFill>
            <a:srgbClr val="FFFFFF"/>
          </a:solidFill>
          <a:ln w="20320">
            <a:solidFill>
              <a:srgbClr val="2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054096"/>
            <a:ext cx="103628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이메일에 첨부 설명·1차 의견·추가 정보를 함께 담는다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39312"/>
            <a:ext cx="292608" cy="292608"/>
          </a:xfrm>
          <a:prstGeom prst="rect">
            <a:avLst/>
          </a:prstGeom>
          <a:solidFill>
            <a:srgbClr val="FFFFFF"/>
          </a:solidFill>
          <a:ln w="20320">
            <a:solidFill>
              <a:srgbClr val="2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621024"/>
            <a:ext cx="103628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보고서는 두괄식으로, 사실에 내 의견과 근거를 더한다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292608" cy="292608"/>
          </a:xfrm>
          <a:prstGeom prst="rect">
            <a:avLst/>
          </a:prstGeom>
          <a:solidFill>
            <a:srgbClr val="FFFFFF"/>
          </a:solidFill>
          <a:ln w="20320">
            <a:solidFill>
              <a:srgbClr val="2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187952"/>
            <a:ext cx="103628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나쁜 소식엔 항상 대안을 1개 이상 함께 보고한다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73168"/>
            <a:ext cx="292608" cy="292608"/>
          </a:xfrm>
          <a:prstGeom prst="rect">
            <a:avLst/>
          </a:prstGeom>
          <a:solidFill>
            <a:srgbClr val="FFFFFF"/>
          </a:solidFill>
          <a:ln w="20320">
            <a:solidFill>
              <a:srgbClr val="2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754880"/>
            <a:ext cx="103628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A3142"/>
                </a:solidFill>
                <a:latin typeface="맑은 고딕"/>
              </a:rPr>
              <a:t>우리 상사의 유형과 선호하는 보고 방식을 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9BC"/>
                </a:solidFill>
                <a:latin typeface="맑은 고딕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신입의 보고 5원칙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768096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2103120" cy="768096"/>
          </a:xfrm>
          <a:prstGeom prst="roundRect">
            <a:avLst>
              <a:gd name="adj" fmla="val 6000"/>
            </a:avLst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572768"/>
            <a:ext cx="8351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3142"/>
                </a:solidFill>
                <a:latin typeface="맑은 고딕"/>
              </a:rPr>
              <a:t>모르면 그 자리에서 묻는다. 질문은 신입의 특권.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9424"/>
            <a:ext cx="10911535" cy="768096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49424"/>
            <a:ext cx="2103120" cy="768096"/>
          </a:xfrm>
          <a:prstGeom prst="roundRect">
            <a:avLst>
              <a:gd name="adj" fmla="val 6000"/>
            </a:avLst>
          </a:prstGeom>
          <a:solidFill>
            <a:srgbClr val="1B9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3230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프레이밍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50592"/>
            <a:ext cx="8351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3142"/>
                </a:solidFill>
                <a:latin typeface="맑은 고딕"/>
              </a:rPr>
              <a:t>목적을 정의하고 기대 수준을 미리 맞춘다.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27248"/>
            <a:ext cx="10911535" cy="768096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2103120" cy="768096"/>
          </a:xfrm>
          <a:prstGeom prst="roundRect">
            <a:avLst>
              <a:gd name="adj" fmla="val 6000"/>
            </a:avLst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1012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타이밍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328416"/>
            <a:ext cx="8351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3142"/>
                </a:solidFill>
                <a:latin typeface="맑은 고딕"/>
              </a:rPr>
              <a:t>구두 보고는 빠르게, 자주, 진행 중에도.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05072"/>
            <a:ext cx="10911535" cy="768096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005072"/>
            <a:ext cx="2103120" cy="768096"/>
          </a:xfrm>
          <a:prstGeom prst="roundRect">
            <a:avLst>
              <a:gd name="adj" fmla="val 6000"/>
            </a:avLst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8795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맥락+의견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06240"/>
            <a:ext cx="8351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3142"/>
                </a:solidFill>
                <a:latin typeface="맑은 고딕"/>
              </a:rPr>
              <a:t>이메일·보고서엔 설명과 내 의견을 담는다.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82896"/>
            <a:ext cx="10911535" cy="768096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882896"/>
            <a:ext cx="2103120" cy="768096"/>
          </a:xfrm>
          <a:prstGeom prst="roundRect">
            <a:avLst>
              <a:gd name="adj" fmla="val 6000"/>
            </a:avLst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6577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플레이어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084064"/>
            <a:ext cx="8351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A3142"/>
                </a:solidFill>
                <a:latin typeface="맑은 고딕"/>
              </a:rPr>
              <a:t>문제엔 늘 대안을 들고 간다.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AA4B6"/>
                </a:solidFill>
                <a:latin typeface="맑은 고딕"/>
              </a:rPr>
              <a:t>보고 스킬 실습 교안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B4C8C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468880"/>
            <a:ext cx="822960" cy="76200"/>
          </a:xfrm>
          <a:prstGeom prst="rect">
            <a:avLst/>
          </a:prstGeom>
          <a:solidFill>
            <a:srgbClr val="F2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맑은 고딕"/>
              </a:rPr>
              <a:t>결국, 보고는 신뢰입니다.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9D6EE"/>
                </a:solidFill>
                <a:latin typeface="맑은 고딕"/>
              </a:rPr>
              <a:t>오늘 배운 5원칙을 내일 첫 보고부터 하나씩 적용해 보세요.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